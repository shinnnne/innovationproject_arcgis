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57" r:id="rId3"/>
    <p:sldId id="258" r:id="rId4"/>
    <p:sldId id="259" r:id="rId5"/>
    <p:sldId id="261" r:id="rId6"/>
    <p:sldId id="260" r:id="rId7"/>
    <p:sldId id="262" r:id="rId8"/>
    <p:sldId id="265" r:id="rId9"/>
    <p:sldId id="266" r:id="rId10"/>
    <p:sldId id="267" r:id="rId11"/>
    <p:sldId id="263" r:id="rId12"/>
    <p:sldId id="264" r:id="rId13"/>
    <p:sldId id="268" r:id="rId14"/>
    <p:sldId id="269" r:id="rId15"/>
    <p:sldId id="270" r:id="rId16"/>
    <p:sldId id="271" r:id="rId17"/>
    <p:sldId id="272" r:id="rId18"/>
    <p:sldId id="273" r:id="rId19"/>
    <p:sldId id="274" r:id="rId20"/>
    <p:sldId id="275" r:id="rId21"/>
  </p:sldIdLst>
  <p:sldSz cx="9144000" cy="6858000" type="screen4x3"/>
  <p:notesSz cx="6761163" cy="99425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31" autoAdjust="0"/>
    <p:restoredTop sz="94660"/>
  </p:normalViewPr>
  <p:slideViewPr>
    <p:cSldViewPr>
      <p:cViewPr varScale="1">
        <p:scale>
          <a:sx n="84" d="100"/>
          <a:sy n="84" d="100"/>
        </p:scale>
        <p:origin x="1258"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29761" y="1"/>
            <a:ext cx="2929837" cy="498852"/>
          </a:xfrm>
          <a:prstGeom prst="rect">
            <a:avLst/>
          </a:prstGeom>
        </p:spPr>
        <p:txBody>
          <a:bodyPr vert="horz" lIns="91440" tIns="45720" rIns="91440" bIns="45720" rtlCol="0"/>
          <a:lstStyle>
            <a:lvl1pPr algn="r">
              <a:defRPr sz="1200"/>
            </a:lvl1pPr>
          </a:lstStyle>
          <a:p>
            <a:fld id="{FAB65B4E-9FE4-4EC3-AFCA-DFF687E5ECFF}" type="datetimeFigureOut">
              <a:rPr lang="zh-CN" altLang="en-US" smtClean="0"/>
              <a:t>2017/9/18</a:t>
            </a:fld>
            <a:endParaRPr lang="zh-CN" altLang="en-US"/>
          </a:p>
        </p:txBody>
      </p:sp>
      <p:sp>
        <p:nvSpPr>
          <p:cNvPr id="4" name="页脚占位符 3"/>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16AA1ECE-2DEA-4D51-BED4-E4B18E0FC864}" type="slidenum">
              <a:rPr lang="zh-CN" altLang="en-US" smtClean="0"/>
              <a:t>‹#›</a:t>
            </a:fld>
            <a:endParaRPr lang="zh-CN" altLang="en-US"/>
          </a:p>
        </p:txBody>
      </p:sp>
    </p:spTree>
    <p:extLst>
      <p:ext uri="{BB962C8B-B14F-4D97-AF65-F5344CB8AC3E}">
        <p14:creationId xmlns:p14="http://schemas.microsoft.com/office/powerpoint/2010/main" val="1888924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29837" cy="49885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29761" y="1"/>
            <a:ext cx="2929837" cy="498852"/>
          </a:xfrm>
          <a:prstGeom prst="rect">
            <a:avLst/>
          </a:prstGeom>
        </p:spPr>
        <p:txBody>
          <a:bodyPr vert="horz" lIns="91440" tIns="45720" rIns="91440" bIns="45720" rtlCol="0"/>
          <a:lstStyle>
            <a:lvl1pPr algn="r">
              <a:defRPr sz="1200"/>
            </a:lvl1pPr>
          </a:lstStyle>
          <a:p>
            <a:fld id="{ECE082A1-E42F-4944-A25E-0BA439439C9F}" type="datetimeFigureOut">
              <a:rPr lang="zh-CN" altLang="en-US" smtClean="0"/>
              <a:t>2017/9/18</a:t>
            </a:fld>
            <a:endParaRPr lang="zh-CN" altLang="en-US"/>
          </a:p>
        </p:txBody>
      </p:sp>
      <p:sp>
        <p:nvSpPr>
          <p:cNvPr id="4" name="幻灯片图像占位符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6117" y="4784834"/>
            <a:ext cx="5408930" cy="3914866"/>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B3CBE20E-1C90-47F7-B2B0-B17C640367B7}" type="slidenum">
              <a:rPr lang="zh-CN" altLang="en-US" smtClean="0"/>
              <a:t>‹#›</a:t>
            </a:fld>
            <a:endParaRPr lang="zh-CN" altLang="en-US"/>
          </a:p>
        </p:txBody>
      </p:sp>
    </p:spTree>
    <p:extLst>
      <p:ext uri="{BB962C8B-B14F-4D97-AF65-F5344CB8AC3E}">
        <p14:creationId xmlns:p14="http://schemas.microsoft.com/office/powerpoint/2010/main" val="3851015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a:t>
            </a:fld>
            <a:endParaRPr lang="zh-CN" altLang="en-US"/>
          </a:p>
        </p:txBody>
      </p:sp>
    </p:spTree>
    <p:extLst>
      <p:ext uri="{BB962C8B-B14F-4D97-AF65-F5344CB8AC3E}">
        <p14:creationId xmlns:p14="http://schemas.microsoft.com/office/powerpoint/2010/main" val="3823292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2</a:t>
            </a:fld>
            <a:endParaRPr lang="zh-CN" altLang="en-US"/>
          </a:p>
        </p:txBody>
      </p:sp>
    </p:spTree>
    <p:extLst>
      <p:ext uri="{BB962C8B-B14F-4D97-AF65-F5344CB8AC3E}">
        <p14:creationId xmlns:p14="http://schemas.microsoft.com/office/powerpoint/2010/main" val="2884296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3</a:t>
            </a:fld>
            <a:endParaRPr lang="zh-CN" altLang="en-US"/>
          </a:p>
        </p:txBody>
      </p:sp>
    </p:spTree>
    <p:extLst>
      <p:ext uri="{BB962C8B-B14F-4D97-AF65-F5344CB8AC3E}">
        <p14:creationId xmlns:p14="http://schemas.microsoft.com/office/powerpoint/2010/main" val="3611569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4</a:t>
            </a:fld>
            <a:endParaRPr lang="zh-CN" altLang="en-US"/>
          </a:p>
        </p:txBody>
      </p:sp>
    </p:spTree>
    <p:extLst>
      <p:ext uri="{BB962C8B-B14F-4D97-AF65-F5344CB8AC3E}">
        <p14:creationId xmlns:p14="http://schemas.microsoft.com/office/powerpoint/2010/main" val="3833612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5</a:t>
            </a:fld>
            <a:endParaRPr lang="zh-CN" altLang="en-US"/>
          </a:p>
        </p:txBody>
      </p:sp>
    </p:spTree>
    <p:extLst>
      <p:ext uri="{BB962C8B-B14F-4D97-AF65-F5344CB8AC3E}">
        <p14:creationId xmlns:p14="http://schemas.microsoft.com/office/powerpoint/2010/main" val="94387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6</a:t>
            </a:fld>
            <a:endParaRPr lang="zh-CN" altLang="en-US"/>
          </a:p>
        </p:txBody>
      </p:sp>
    </p:spTree>
    <p:extLst>
      <p:ext uri="{BB962C8B-B14F-4D97-AF65-F5344CB8AC3E}">
        <p14:creationId xmlns:p14="http://schemas.microsoft.com/office/powerpoint/2010/main" val="1675377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7</a:t>
            </a:fld>
            <a:endParaRPr lang="zh-CN" altLang="en-US"/>
          </a:p>
        </p:txBody>
      </p:sp>
    </p:spTree>
    <p:extLst>
      <p:ext uri="{BB962C8B-B14F-4D97-AF65-F5344CB8AC3E}">
        <p14:creationId xmlns:p14="http://schemas.microsoft.com/office/powerpoint/2010/main" val="198382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8</a:t>
            </a:fld>
            <a:endParaRPr lang="zh-CN" altLang="en-US"/>
          </a:p>
        </p:txBody>
      </p:sp>
    </p:spTree>
    <p:extLst>
      <p:ext uri="{BB962C8B-B14F-4D97-AF65-F5344CB8AC3E}">
        <p14:creationId xmlns:p14="http://schemas.microsoft.com/office/powerpoint/2010/main" val="2307875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9</a:t>
            </a:fld>
            <a:endParaRPr lang="zh-CN" altLang="en-US"/>
          </a:p>
        </p:txBody>
      </p:sp>
    </p:spTree>
    <p:extLst>
      <p:ext uri="{BB962C8B-B14F-4D97-AF65-F5344CB8AC3E}">
        <p14:creationId xmlns:p14="http://schemas.microsoft.com/office/powerpoint/2010/main" val="4258705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10</a:t>
            </a:fld>
            <a:endParaRPr lang="zh-CN" altLang="en-US"/>
          </a:p>
        </p:txBody>
      </p:sp>
    </p:spTree>
    <p:extLst>
      <p:ext uri="{BB962C8B-B14F-4D97-AF65-F5344CB8AC3E}">
        <p14:creationId xmlns:p14="http://schemas.microsoft.com/office/powerpoint/2010/main" val="373461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11</a:t>
            </a:fld>
            <a:endParaRPr lang="zh-CN" altLang="en-US"/>
          </a:p>
        </p:txBody>
      </p:sp>
    </p:spTree>
    <p:extLst>
      <p:ext uri="{BB962C8B-B14F-4D97-AF65-F5344CB8AC3E}">
        <p14:creationId xmlns:p14="http://schemas.microsoft.com/office/powerpoint/2010/main" val="2933276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12</a:t>
            </a:fld>
            <a:endParaRPr lang="zh-CN" altLang="en-US"/>
          </a:p>
        </p:txBody>
      </p:sp>
    </p:spTree>
    <p:extLst>
      <p:ext uri="{BB962C8B-B14F-4D97-AF65-F5344CB8AC3E}">
        <p14:creationId xmlns:p14="http://schemas.microsoft.com/office/powerpoint/2010/main" val="1733484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13</a:t>
            </a:fld>
            <a:endParaRPr lang="zh-CN" altLang="en-US"/>
          </a:p>
        </p:txBody>
      </p:sp>
    </p:spTree>
    <p:extLst>
      <p:ext uri="{BB962C8B-B14F-4D97-AF65-F5344CB8AC3E}">
        <p14:creationId xmlns:p14="http://schemas.microsoft.com/office/powerpoint/2010/main" val="3877401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14</a:t>
            </a:fld>
            <a:endParaRPr lang="zh-CN" altLang="en-US"/>
          </a:p>
        </p:txBody>
      </p:sp>
    </p:spTree>
    <p:extLst>
      <p:ext uri="{BB962C8B-B14F-4D97-AF65-F5344CB8AC3E}">
        <p14:creationId xmlns:p14="http://schemas.microsoft.com/office/powerpoint/2010/main" val="1943932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15</a:t>
            </a:fld>
            <a:endParaRPr lang="zh-CN" altLang="en-US"/>
          </a:p>
        </p:txBody>
      </p:sp>
    </p:spTree>
    <p:extLst>
      <p:ext uri="{BB962C8B-B14F-4D97-AF65-F5344CB8AC3E}">
        <p14:creationId xmlns:p14="http://schemas.microsoft.com/office/powerpoint/2010/main" val="3677336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16</a:t>
            </a:fld>
            <a:endParaRPr lang="zh-CN" altLang="en-US"/>
          </a:p>
        </p:txBody>
      </p:sp>
    </p:spTree>
    <p:extLst>
      <p:ext uri="{BB962C8B-B14F-4D97-AF65-F5344CB8AC3E}">
        <p14:creationId xmlns:p14="http://schemas.microsoft.com/office/powerpoint/2010/main" val="1367473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17</a:t>
            </a:fld>
            <a:endParaRPr lang="zh-CN" altLang="en-US"/>
          </a:p>
        </p:txBody>
      </p:sp>
    </p:spTree>
    <p:extLst>
      <p:ext uri="{BB962C8B-B14F-4D97-AF65-F5344CB8AC3E}">
        <p14:creationId xmlns:p14="http://schemas.microsoft.com/office/powerpoint/2010/main" val="4160362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18</a:t>
            </a:fld>
            <a:endParaRPr lang="zh-CN" altLang="en-US"/>
          </a:p>
        </p:txBody>
      </p:sp>
    </p:spTree>
    <p:extLst>
      <p:ext uri="{BB962C8B-B14F-4D97-AF65-F5344CB8AC3E}">
        <p14:creationId xmlns:p14="http://schemas.microsoft.com/office/powerpoint/2010/main" val="3933631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19</a:t>
            </a:fld>
            <a:endParaRPr lang="zh-CN" altLang="en-US"/>
          </a:p>
        </p:txBody>
      </p:sp>
    </p:spTree>
    <p:extLst>
      <p:ext uri="{BB962C8B-B14F-4D97-AF65-F5344CB8AC3E}">
        <p14:creationId xmlns:p14="http://schemas.microsoft.com/office/powerpoint/2010/main" val="244023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3CBE20E-1C90-47F7-B2B0-B17C640367B7}" type="slidenum">
              <a:rPr lang="zh-CN" altLang="en-US" smtClean="0"/>
              <a:t>20</a:t>
            </a:fld>
            <a:endParaRPr lang="zh-CN" altLang="en-US"/>
          </a:p>
        </p:txBody>
      </p:sp>
    </p:spTree>
    <p:extLst>
      <p:ext uri="{BB962C8B-B14F-4D97-AF65-F5344CB8AC3E}">
        <p14:creationId xmlns:p14="http://schemas.microsoft.com/office/powerpoint/2010/main" val="1659138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3" name="矩形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矩形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矩形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矩形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矩形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圆角矩形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圆角矩形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矩形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矩形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6705600" y="4206240"/>
            <a:ext cx="960120" cy="457200"/>
          </a:xfrm>
        </p:spPr>
        <p:txBody>
          <a:bodyPr/>
          <a:lstStyle/>
          <a:p>
            <a:fld id="{BE0767EC-FED5-4A27-B2F5-06FE8598DF7E}" type="datetimeFigureOut">
              <a:rPr lang="zh-CN" altLang="en-US" smtClean="0"/>
              <a:t>2017/9/18</a:t>
            </a:fld>
            <a:endParaRPr lang="zh-CN" altLang="en-US"/>
          </a:p>
        </p:txBody>
      </p:sp>
      <p:sp>
        <p:nvSpPr>
          <p:cNvPr id="17" name="页脚占位符 16"/>
          <p:cNvSpPr>
            <a:spLocks noGrp="1"/>
          </p:cNvSpPr>
          <p:nvPr>
            <p:ph type="ftr" sz="quarter" idx="11"/>
          </p:nvPr>
        </p:nvSpPr>
        <p:spPr>
          <a:xfrm>
            <a:off x="5410200" y="4205288"/>
            <a:ext cx="1295400" cy="457200"/>
          </a:xfrm>
        </p:spPr>
        <p:txBody>
          <a:bodyPr/>
          <a:lstStyle/>
          <a:p>
            <a:endParaRPr lang="zh-CN" altLang="en-US"/>
          </a:p>
        </p:txBody>
      </p:sp>
      <p:sp>
        <p:nvSpPr>
          <p:cNvPr id="29" name="灯片编号占位符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1143000"/>
            <a:ext cx="8382000" cy="1069848"/>
          </a:xfrm>
        </p:spPr>
        <p:txBody>
          <a:bodyPr anchor="ctr"/>
          <a:lstStyle>
            <a:lvl1pPr>
              <a:defRPr sz="4000" b="0" i="0"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6" name="日期占位符 25"/>
          <p:cNvSpPr>
            <a:spLocks noGrp="1"/>
          </p:cNvSpPr>
          <p:nvPr>
            <p:ph type="dt" sz="half" idx="10"/>
          </p:nvPr>
        </p:nvSpPr>
        <p:spPr/>
        <p:txBody>
          <a:bodyPr rtlCol="0"/>
          <a:lstStyle/>
          <a:p>
            <a:fld id="{BE0767EC-FED5-4A27-B2F5-06FE8598DF7E}" type="datetimeFigureOut">
              <a:rPr lang="zh-CN" altLang="en-US" smtClean="0"/>
              <a:t>2017/9/18</a:t>
            </a:fld>
            <a:endParaRPr lang="zh-CN" altLang="en-US"/>
          </a:p>
        </p:txBody>
      </p:sp>
      <p:sp>
        <p:nvSpPr>
          <p:cNvPr id="27" name="灯片编号占位符 26"/>
          <p:cNvSpPr>
            <a:spLocks noGrp="1"/>
          </p:cNvSpPr>
          <p:nvPr>
            <p:ph type="sldNum" sz="quarter" idx="11"/>
          </p:nvPr>
        </p:nvSpPr>
        <p:spPr/>
        <p:txBody>
          <a:bodyPr rtlCol="0"/>
          <a:lstStyle/>
          <a:p>
            <a:fld id="{0D845B4E-6970-4604-9F8B-DABC867DDA3B}" type="slidenum">
              <a:rPr lang="zh-CN" altLang="en-US" smtClean="0"/>
              <a:t>‹#›</a:t>
            </a:fld>
            <a:endParaRPr lang="zh-CN" altLang="en-US"/>
          </a:p>
        </p:txBody>
      </p:sp>
      <p:sp>
        <p:nvSpPr>
          <p:cNvPr id="28" name="页脚占位符 27"/>
          <p:cNvSpPr>
            <a:spLocks noGrp="1"/>
          </p:cNvSpPr>
          <p:nvPr>
            <p:ph type="ftr" sz="quarter" idx="12"/>
          </p:nvPr>
        </p:nvSpPr>
        <p:spPr/>
        <p:txBody>
          <a:bodyPr rtlCol="0"/>
          <a:lstStyle/>
          <a:p>
            <a:endParaRPr lang="zh-CN" altLang="en-US"/>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a:xfrm>
            <a:off x="6583680" y="612648"/>
            <a:ext cx="957264" cy="457200"/>
          </a:xfrm>
        </p:spPr>
        <p:txBody>
          <a:bodyPr/>
          <a:lstStyle/>
          <a:p>
            <a:fld id="{BE0767EC-FED5-4A27-B2F5-06FE8598DF7E}" type="datetimeFigureOut">
              <a:rPr lang="zh-CN" altLang="en-US" smtClean="0"/>
              <a:t>2017/9/18</a:t>
            </a:fld>
            <a:endParaRPr lang="zh-CN" altLang="en-US"/>
          </a:p>
        </p:txBody>
      </p:sp>
      <p:sp>
        <p:nvSpPr>
          <p:cNvPr id="4" name="页脚占位符 3"/>
          <p:cNvSpPr>
            <a:spLocks noGrp="1"/>
          </p:cNvSpPr>
          <p:nvPr>
            <p:ph type="ftr" sz="quarter" idx="11"/>
          </p:nvPr>
        </p:nvSpPr>
        <p:spPr>
          <a:xfrm>
            <a:off x="5257800" y="612648"/>
            <a:ext cx="1325880" cy="457200"/>
          </a:xfrm>
        </p:spPr>
        <p:txBody>
          <a:bodyPr/>
          <a:lstStyle/>
          <a:p>
            <a:endParaRPr lang="zh-CN" altLang="en-US"/>
          </a:p>
        </p:txBody>
      </p:sp>
      <p:sp>
        <p:nvSpPr>
          <p:cNvPr id="5" name="灯片编号占位符 4"/>
          <p:cNvSpPr>
            <a:spLocks noGrp="1"/>
          </p:cNvSpPr>
          <p:nvPr>
            <p:ph type="sldNum" sz="quarter" idx="12"/>
          </p:nvPr>
        </p:nvSpPr>
        <p:spPr>
          <a:xfrm>
            <a:off x="8174736" y="2272"/>
            <a:ext cx="762000" cy="365760"/>
          </a:xfrm>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BE0767EC-FED5-4A27-B2F5-06FE8598DF7E}" type="datetimeFigureOut">
              <a:rPr lang="zh-CN" altLang="en-US" smtClean="0"/>
              <a:t>2017/9/18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845B4E-6970-4604-9F8B-DABC867DDA3B}" type="slidenum">
              <a:rPr lang="zh-CN" altLang="en-US" smtClean="0"/>
              <a:t>‹#›</a:t>
            </a:fld>
            <a:endParaRPr lang="zh-CN" alt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矩形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矩形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矩形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矩形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圆角矩形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圆角矩形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矩形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矩形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矩形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矩形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矩形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矩形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标题占位符 21"/>
          <p:cNvSpPr>
            <a:spLocks noGrp="1"/>
          </p:cNvSpPr>
          <p:nvPr>
            <p:ph type="title"/>
          </p:nvPr>
        </p:nvSpPr>
        <p:spPr>
          <a:xfrm>
            <a:off x="457200" y="1143000"/>
            <a:ext cx="8229600" cy="10668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BE0767EC-FED5-4A27-B2F5-06FE8598DF7E}" type="datetimeFigureOut">
              <a:rPr lang="zh-CN" altLang="en-US" smtClean="0"/>
              <a:t>2017/9/18</a:t>
            </a:fld>
            <a:endParaRPr lang="zh-CN" altLang="en-US"/>
          </a:p>
        </p:txBody>
      </p:sp>
      <p:sp>
        <p:nvSpPr>
          <p:cNvPr id="3" name="页脚占位符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zh-CN" altLang="en-US"/>
          </a:p>
        </p:txBody>
      </p:sp>
      <p:sp>
        <p:nvSpPr>
          <p:cNvPr id="23" name="灯片编号占位符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D845B4E-6970-4604-9F8B-DABC867DDA3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wipe/>
  </p:transition>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5400" dirty="0" smtClean="0"/>
              <a:t>创新项目分析</a:t>
            </a:r>
            <a:endParaRPr lang="zh-CN" altLang="en-US" sz="5400" dirty="0"/>
          </a:p>
        </p:txBody>
      </p:sp>
      <p:sp>
        <p:nvSpPr>
          <p:cNvPr id="3" name="副标题 2"/>
          <p:cNvSpPr>
            <a:spLocks noGrp="1"/>
          </p:cNvSpPr>
          <p:nvPr>
            <p:ph type="subTitle" idx="1"/>
          </p:nvPr>
        </p:nvSpPr>
        <p:spPr/>
        <p:txBody>
          <a:bodyPr/>
          <a:lstStyle/>
          <a:p>
            <a:r>
              <a:rPr lang="zh-CN" altLang="en-US" dirty="0" smtClean="0"/>
              <a:t>                        徐韧</a:t>
            </a:r>
            <a:endParaRPr lang="zh-CN" altLang="en-US" dirty="0"/>
          </a:p>
        </p:txBody>
      </p:sp>
    </p:spTree>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洪水形成条件</a:t>
            </a:r>
            <a:endParaRPr lang="zh-CN" altLang="en-US" dirty="0"/>
          </a:p>
        </p:txBody>
      </p:sp>
      <p:sp>
        <p:nvSpPr>
          <p:cNvPr id="3" name="内容占位符 2"/>
          <p:cNvSpPr>
            <a:spLocks noGrp="1"/>
          </p:cNvSpPr>
          <p:nvPr>
            <p:ph idx="1"/>
          </p:nvPr>
        </p:nvSpPr>
        <p:spPr/>
        <p:txBody>
          <a:bodyPr/>
          <a:lstStyle/>
          <a:p>
            <a:r>
              <a:rPr lang="zh-CN" altLang="en-US" sz="4000" dirty="0" smtClean="0"/>
              <a:t>致灾因素：</a:t>
            </a:r>
            <a:r>
              <a:rPr lang="zh-CN" altLang="en-US" sz="4000" dirty="0" smtClean="0">
                <a:solidFill>
                  <a:srgbClr val="FF0000"/>
                </a:solidFill>
              </a:rPr>
              <a:t>暴雨</a:t>
            </a:r>
            <a:r>
              <a:rPr lang="zh-CN" altLang="en-US" sz="4000" dirty="0" smtClean="0"/>
              <a:t>、溃堤、海啸等</a:t>
            </a:r>
            <a:endParaRPr lang="en-US" altLang="zh-CN" sz="4000" dirty="0" smtClean="0"/>
          </a:p>
          <a:p>
            <a:r>
              <a:rPr lang="zh-CN" altLang="en-US" sz="4000" dirty="0" smtClean="0"/>
              <a:t>孕灾环境：气象、</a:t>
            </a:r>
            <a:r>
              <a:rPr lang="zh-CN" altLang="en-US" sz="4000" dirty="0" smtClean="0">
                <a:solidFill>
                  <a:srgbClr val="FF0000"/>
                </a:solidFill>
              </a:rPr>
              <a:t>地理环境</a:t>
            </a:r>
            <a:r>
              <a:rPr lang="zh-CN" altLang="en-US" sz="4000" dirty="0" smtClean="0"/>
              <a:t>等环境因素</a:t>
            </a:r>
            <a:endParaRPr lang="en-US" altLang="zh-CN" sz="4000" dirty="0" smtClean="0"/>
          </a:p>
          <a:p>
            <a:r>
              <a:rPr lang="zh-CN" altLang="en-US" sz="4000" dirty="0" smtClean="0"/>
              <a:t>承灾体：通俗理解为受灾目标，也就是</a:t>
            </a:r>
            <a:r>
              <a:rPr lang="zh-CN" altLang="en-US" sz="4000" dirty="0" smtClean="0">
                <a:solidFill>
                  <a:srgbClr val="FF0000"/>
                </a:solidFill>
              </a:rPr>
              <a:t>淹没区域</a:t>
            </a:r>
            <a:r>
              <a:rPr lang="zh-CN" altLang="en-US" sz="4000" dirty="0" smtClean="0"/>
              <a:t>中的受灾体</a:t>
            </a:r>
            <a:endParaRPr lang="en-US" altLang="zh-CN" sz="4000" dirty="0" smtClean="0"/>
          </a:p>
          <a:p>
            <a:pPr>
              <a:buNone/>
            </a:pPr>
            <a:endParaRPr lang="zh-CN" altLang="en-US" dirty="0"/>
          </a:p>
        </p:txBody>
      </p:sp>
    </p:spTree>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洪水灾害影响因素</a:t>
            </a:r>
            <a:endParaRPr lang="zh-CN" altLang="en-US" dirty="0"/>
          </a:p>
        </p:txBody>
      </p:sp>
      <p:sp>
        <p:nvSpPr>
          <p:cNvPr id="3" name="内容占位符 2"/>
          <p:cNvSpPr>
            <a:spLocks noGrp="1"/>
          </p:cNvSpPr>
          <p:nvPr>
            <p:ph idx="1"/>
          </p:nvPr>
        </p:nvSpPr>
        <p:spPr/>
        <p:txBody>
          <a:bodyPr>
            <a:normAutofit/>
          </a:bodyPr>
          <a:lstStyle/>
          <a:p>
            <a:r>
              <a:rPr lang="zh-CN" altLang="en-US" sz="3600" dirty="0" smtClean="0">
                <a:solidFill>
                  <a:srgbClr val="FF0000"/>
                </a:solidFill>
              </a:rPr>
              <a:t>降水</a:t>
            </a:r>
            <a:endParaRPr lang="en-US" altLang="zh-CN" sz="3600" dirty="0" smtClean="0">
              <a:solidFill>
                <a:srgbClr val="FF0000"/>
              </a:solidFill>
            </a:endParaRPr>
          </a:p>
          <a:p>
            <a:r>
              <a:rPr lang="zh-CN" altLang="en-US" sz="3600" dirty="0" smtClean="0">
                <a:solidFill>
                  <a:srgbClr val="FF0000"/>
                </a:solidFill>
              </a:rPr>
              <a:t>下垫因素</a:t>
            </a:r>
            <a:endParaRPr lang="en-US" altLang="zh-CN" sz="3600" dirty="0" smtClean="0"/>
          </a:p>
          <a:p>
            <a:endParaRPr lang="zh-CN" altLang="en-US" sz="3600" dirty="0">
              <a:solidFill>
                <a:srgbClr val="FF0000"/>
              </a:solidFill>
            </a:endParaRPr>
          </a:p>
        </p:txBody>
      </p:sp>
      <p:pic>
        <p:nvPicPr>
          <p:cNvPr id="6" name="图片 5" descr="捕获.PNG"/>
          <p:cNvPicPr>
            <a:picLocks noChangeAspect="1"/>
          </p:cNvPicPr>
          <p:nvPr/>
        </p:nvPicPr>
        <p:blipFill>
          <a:blip r:embed="rId3"/>
          <a:stretch>
            <a:fillRect/>
          </a:stretch>
        </p:blipFill>
        <p:spPr>
          <a:xfrm>
            <a:off x="785785" y="3571876"/>
            <a:ext cx="7000925" cy="380141"/>
          </a:xfrm>
          <a:prstGeom prst="rect">
            <a:avLst/>
          </a:prstGeom>
        </p:spPr>
      </p:pic>
      <p:pic>
        <p:nvPicPr>
          <p:cNvPr id="7" name="图片 6" descr="捕获1.PNG"/>
          <p:cNvPicPr>
            <a:picLocks noChangeAspect="1"/>
          </p:cNvPicPr>
          <p:nvPr/>
        </p:nvPicPr>
        <p:blipFill>
          <a:blip r:embed="rId4"/>
          <a:stretch>
            <a:fillRect/>
          </a:stretch>
        </p:blipFill>
        <p:spPr>
          <a:xfrm>
            <a:off x="785786" y="4071942"/>
            <a:ext cx="3953427" cy="219106"/>
          </a:xfrm>
          <a:prstGeom prst="rect">
            <a:avLst/>
          </a:prstGeom>
        </p:spPr>
      </p:pic>
      <p:pic>
        <p:nvPicPr>
          <p:cNvPr id="8" name="图片 7" descr="捕获2.PNG"/>
          <p:cNvPicPr>
            <a:picLocks noChangeAspect="1"/>
          </p:cNvPicPr>
          <p:nvPr/>
        </p:nvPicPr>
        <p:blipFill>
          <a:blip r:embed="rId5"/>
          <a:stretch>
            <a:fillRect/>
          </a:stretch>
        </p:blipFill>
        <p:spPr>
          <a:xfrm>
            <a:off x="785786" y="4357694"/>
            <a:ext cx="5068008" cy="209579"/>
          </a:xfrm>
          <a:prstGeom prst="rect">
            <a:avLst/>
          </a:prstGeom>
        </p:spPr>
      </p:pic>
      <p:pic>
        <p:nvPicPr>
          <p:cNvPr id="9" name="图片 8" descr="捕获3.PNG"/>
          <p:cNvPicPr>
            <a:picLocks noChangeAspect="1"/>
          </p:cNvPicPr>
          <p:nvPr/>
        </p:nvPicPr>
        <p:blipFill>
          <a:blip r:embed="rId6"/>
          <a:stretch>
            <a:fillRect/>
          </a:stretch>
        </p:blipFill>
        <p:spPr>
          <a:xfrm>
            <a:off x="928662" y="4572008"/>
            <a:ext cx="4725060" cy="219106"/>
          </a:xfrm>
          <a:prstGeom prst="rect">
            <a:avLst/>
          </a:prstGeom>
        </p:spPr>
      </p:pic>
      <p:pic>
        <p:nvPicPr>
          <p:cNvPr id="10" name="图片 9" descr="捕获4.PNG"/>
          <p:cNvPicPr>
            <a:picLocks noChangeAspect="1"/>
          </p:cNvPicPr>
          <p:nvPr/>
        </p:nvPicPr>
        <p:blipFill>
          <a:blip r:embed="rId7"/>
          <a:stretch>
            <a:fillRect/>
          </a:stretch>
        </p:blipFill>
        <p:spPr>
          <a:xfrm>
            <a:off x="785786" y="4786322"/>
            <a:ext cx="3334216" cy="200053"/>
          </a:xfrm>
          <a:prstGeom prst="rect">
            <a:avLst/>
          </a:prstGeom>
        </p:spPr>
      </p:pic>
      <p:pic>
        <p:nvPicPr>
          <p:cNvPr id="11" name="图片 10" descr="捕获5.PNG"/>
          <p:cNvPicPr>
            <a:picLocks noChangeAspect="1"/>
          </p:cNvPicPr>
          <p:nvPr/>
        </p:nvPicPr>
        <p:blipFill>
          <a:blip r:embed="rId8"/>
          <a:stretch>
            <a:fillRect/>
          </a:stretch>
        </p:blipFill>
        <p:spPr>
          <a:xfrm>
            <a:off x="785786" y="5214950"/>
            <a:ext cx="1314634" cy="209579"/>
          </a:xfrm>
          <a:prstGeom prst="rect">
            <a:avLst/>
          </a:prstGeom>
        </p:spPr>
      </p:pic>
      <p:pic>
        <p:nvPicPr>
          <p:cNvPr id="12" name="图片 11" descr="捕获6.PNG"/>
          <p:cNvPicPr>
            <a:picLocks noChangeAspect="1"/>
          </p:cNvPicPr>
          <p:nvPr/>
        </p:nvPicPr>
        <p:blipFill>
          <a:blip r:embed="rId9"/>
          <a:stretch>
            <a:fillRect/>
          </a:stretch>
        </p:blipFill>
        <p:spPr>
          <a:xfrm>
            <a:off x="928662" y="5000636"/>
            <a:ext cx="2867425" cy="228632"/>
          </a:xfrm>
          <a:prstGeom prst="rect">
            <a:avLst/>
          </a:prstGeom>
        </p:spPr>
      </p:pic>
      <p:pic>
        <p:nvPicPr>
          <p:cNvPr id="13" name="图片 12" descr="捕获7.PNG"/>
          <p:cNvPicPr>
            <a:picLocks noChangeAspect="1"/>
          </p:cNvPicPr>
          <p:nvPr/>
        </p:nvPicPr>
        <p:blipFill>
          <a:blip r:embed="rId10"/>
          <a:stretch>
            <a:fillRect/>
          </a:stretch>
        </p:blipFill>
        <p:spPr>
          <a:xfrm>
            <a:off x="785786" y="5643578"/>
            <a:ext cx="4153480" cy="257211"/>
          </a:xfrm>
          <a:prstGeom prst="rect">
            <a:avLst/>
          </a:prstGeom>
        </p:spPr>
      </p:pic>
      <p:pic>
        <p:nvPicPr>
          <p:cNvPr id="14" name="图片 13" descr="捕获8.PNG"/>
          <p:cNvPicPr>
            <a:picLocks noChangeAspect="1"/>
          </p:cNvPicPr>
          <p:nvPr/>
        </p:nvPicPr>
        <p:blipFill>
          <a:blip r:embed="rId11"/>
          <a:stretch>
            <a:fillRect/>
          </a:stretch>
        </p:blipFill>
        <p:spPr>
          <a:xfrm>
            <a:off x="4929190" y="5643578"/>
            <a:ext cx="2829320" cy="228632"/>
          </a:xfrm>
          <a:prstGeom prst="rect">
            <a:avLst/>
          </a:prstGeom>
        </p:spPr>
      </p:pic>
      <p:pic>
        <p:nvPicPr>
          <p:cNvPr id="16" name="图片 15" descr="捕获6.PNG"/>
          <p:cNvPicPr>
            <a:picLocks noChangeAspect="1"/>
          </p:cNvPicPr>
          <p:nvPr/>
        </p:nvPicPr>
        <p:blipFill>
          <a:blip r:embed="rId9"/>
          <a:stretch>
            <a:fillRect/>
          </a:stretch>
        </p:blipFill>
        <p:spPr>
          <a:xfrm>
            <a:off x="2071670" y="5214950"/>
            <a:ext cx="2867425" cy="228632"/>
          </a:xfrm>
          <a:prstGeom prst="rect">
            <a:avLst/>
          </a:prstGeom>
        </p:spPr>
      </p:pic>
      <p:pic>
        <p:nvPicPr>
          <p:cNvPr id="17" name="图片 16" descr="捕获00.PNG"/>
          <p:cNvPicPr>
            <a:picLocks noChangeAspect="1"/>
          </p:cNvPicPr>
          <p:nvPr/>
        </p:nvPicPr>
        <p:blipFill>
          <a:blip r:embed="rId12"/>
          <a:stretch>
            <a:fillRect/>
          </a:stretch>
        </p:blipFill>
        <p:spPr>
          <a:xfrm>
            <a:off x="7072330" y="5429264"/>
            <a:ext cx="152421" cy="228632"/>
          </a:xfrm>
          <a:prstGeom prst="rect">
            <a:avLst/>
          </a:prstGeom>
        </p:spPr>
      </p:pic>
      <p:pic>
        <p:nvPicPr>
          <p:cNvPr id="18" name="图片 17" descr="捕获0.PNG"/>
          <p:cNvPicPr>
            <a:picLocks noChangeAspect="1"/>
          </p:cNvPicPr>
          <p:nvPr/>
        </p:nvPicPr>
        <p:blipFill>
          <a:blip r:embed="rId13"/>
          <a:stretch>
            <a:fillRect/>
          </a:stretch>
        </p:blipFill>
        <p:spPr>
          <a:xfrm>
            <a:off x="928662" y="5429264"/>
            <a:ext cx="6163536" cy="257211"/>
          </a:xfrm>
          <a:prstGeom prst="rect">
            <a:avLst/>
          </a:prstGeom>
        </p:spPr>
      </p:pic>
      <p:pic>
        <p:nvPicPr>
          <p:cNvPr id="19" name="图片 18" descr="捕获000.PNG"/>
          <p:cNvPicPr>
            <a:picLocks noChangeAspect="1"/>
          </p:cNvPicPr>
          <p:nvPr/>
        </p:nvPicPr>
        <p:blipFill>
          <a:blip r:embed="rId14"/>
          <a:stretch>
            <a:fillRect/>
          </a:stretch>
        </p:blipFill>
        <p:spPr>
          <a:xfrm>
            <a:off x="785786" y="5429264"/>
            <a:ext cx="200053" cy="228632"/>
          </a:xfrm>
          <a:prstGeom prst="rect">
            <a:avLst/>
          </a:prstGeom>
        </p:spPr>
      </p:pic>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前面所述信息查找</a:t>
            </a:r>
            <a:r>
              <a:rPr lang="zh-CN" altLang="en-US" dirty="0" smtClean="0">
                <a:solidFill>
                  <a:srgbClr val="FF0000"/>
                </a:solidFill>
              </a:rPr>
              <a:t>来源</a:t>
            </a:r>
            <a:endParaRPr lang="zh-CN" altLang="en-US" dirty="0">
              <a:solidFill>
                <a:srgbClr val="FF0000"/>
              </a:solidFill>
            </a:endParaRPr>
          </a:p>
        </p:txBody>
      </p:sp>
      <p:sp>
        <p:nvSpPr>
          <p:cNvPr id="3" name="内容占位符 2"/>
          <p:cNvSpPr>
            <a:spLocks noGrp="1"/>
          </p:cNvSpPr>
          <p:nvPr>
            <p:ph idx="1"/>
          </p:nvPr>
        </p:nvSpPr>
        <p:spPr/>
        <p:txBody>
          <a:bodyPr/>
          <a:lstStyle/>
          <a:p>
            <a:r>
              <a:rPr lang="zh-CN" altLang="en-US" dirty="0" smtClean="0"/>
              <a:t>全国矢量化图</a:t>
            </a:r>
            <a:endParaRPr lang="en-US" altLang="zh-CN" dirty="0" smtClean="0"/>
          </a:p>
          <a:p>
            <a:endParaRPr lang="en-US" altLang="zh-CN" dirty="0" smtClean="0"/>
          </a:p>
          <a:p>
            <a:r>
              <a:rPr lang="en-US" altLang="zh-CN" dirty="0" smtClean="0"/>
              <a:t>DEM</a:t>
            </a:r>
            <a:r>
              <a:rPr lang="zh-CN" altLang="en-US" dirty="0" smtClean="0"/>
              <a:t>图</a:t>
            </a:r>
            <a:endParaRPr lang="en-US" altLang="zh-CN" dirty="0" smtClean="0"/>
          </a:p>
          <a:p>
            <a:endParaRPr lang="en-US" altLang="zh-CN" dirty="0" smtClean="0"/>
          </a:p>
          <a:p>
            <a:endParaRPr lang="en-US" altLang="zh-CN" dirty="0" smtClean="0"/>
          </a:p>
          <a:p>
            <a:r>
              <a:rPr lang="zh-CN" altLang="en-US" dirty="0" smtClean="0"/>
              <a:t>遥感影像</a:t>
            </a:r>
            <a:endParaRPr lang="en-US" altLang="zh-CN" dirty="0" smtClean="0"/>
          </a:p>
          <a:p>
            <a:endParaRPr lang="en-US" altLang="zh-CN" dirty="0" smtClean="0"/>
          </a:p>
          <a:p>
            <a:r>
              <a:rPr lang="zh-CN" altLang="en-US" dirty="0" smtClean="0"/>
              <a:t>其余在水利水文厅获取</a:t>
            </a:r>
            <a:endParaRPr lang="en-US" altLang="zh-CN" dirty="0" smtClean="0"/>
          </a:p>
          <a:p>
            <a:r>
              <a:rPr lang="zh-CN" altLang="en-US" dirty="0" smtClean="0"/>
              <a:t>省降水年鉴也有可用信息</a:t>
            </a:r>
            <a:endParaRPr lang="en-US" altLang="zh-CN" dirty="0" smtClean="0"/>
          </a:p>
          <a:p>
            <a:endParaRPr lang="en-US" altLang="zh-CN" dirty="0" smtClean="0"/>
          </a:p>
          <a:p>
            <a:endParaRPr lang="en-US" altLang="zh-CN" dirty="0" smtClean="0"/>
          </a:p>
          <a:p>
            <a:endParaRPr lang="zh-CN" altLang="en-US" dirty="0"/>
          </a:p>
        </p:txBody>
      </p:sp>
      <p:pic>
        <p:nvPicPr>
          <p:cNvPr id="4" name="图片 3" descr="捕获qw.PNG"/>
          <p:cNvPicPr>
            <a:picLocks noChangeAspect="1"/>
          </p:cNvPicPr>
          <p:nvPr/>
        </p:nvPicPr>
        <p:blipFill>
          <a:blip r:embed="rId3"/>
          <a:stretch>
            <a:fillRect/>
          </a:stretch>
        </p:blipFill>
        <p:spPr>
          <a:xfrm>
            <a:off x="857224" y="2714620"/>
            <a:ext cx="4626219" cy="428628"/>
          </a:xfrm>
          <a:prstGeom prst="rect">
            <a:avLst/>
          </a:prstGeom>
        </p:spPr>
      </p:pic>
      <p:pic>
        <p:nvPicPr>
          <p:cNvPr id="2051" name="Picture 3"/>
          <p:cNvPicPr>
            <a:picLocks noChangeAspect="1" noChangeArrowheads="1"/>
          </p:cNvPicPr>
          <p:nvPr/>
        </p:nvPicPr>
        <p:blipFill>
          <a:blip r:embed="rId4"/>
          <a:srcRect/>
          <a:stretch>
            <a:fillRect/>
          </a:stretch>
        </p:blipFill>
        <p:spPr bwMode="auto">
          <a:xfrm>
            <a:off x="928662" y="3786190"/>
            <a:ext cx="4329143" cy="428628"/>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a:srcRect/>
          <a:stretch>
            <a:fillRect/>
          </a:stretch>
        </p:blipFill>
        <p:spPr bwMode="auto">
          <a:xfrm>
            <a:off x="857224" y="4214818"/>
            <a:ext cx="5700752" cy="357190"/>
          </a:xfrm>
          <a:prstGeom prst="rect">
            <a:avLst/>
          </a:prstGeom>
          <a:noFill/>
          <a:ln w="9525">
            <a:noFill/>
            <a:miter lim="800000"/>
            <a:headEnd/>
            <a:tailEnd/>
          </a:ln>
          <a:effectLst/>
        </p:spPr>
      </p:pic>
      <p:pic>
        <p:nvPicPr>
          <p:cNvPr id="2053" name="Picture 5"/>
          <p:cNvPicPr>
            <a:picLocks noChangeAspect="1" noChangeArrowheads="1"/>
          </p:cNvPicPr>
          <p:nvPr/>
        </p:nvPicPr>
        <p:blipFill>
          <a:blip r:embed="rId6"/>
          <a:srcRect/>
          <a:stretch>
            <a:fillRect/>
          </a:stretch>
        </p:blipFill>
        <p:spPr bwMode="auto">
          <a:xfrm>
            <a:off x="2428860" y="4643446"/>
            <a:ext cx="6478128" cy="357190"/>
          </a:xfrm>
          <a:prstGeom prst="rect">
            <a:avLst/>
          </a:prstGeom>
          <a:noFill/>
          <a:ln w="9525">
            <a:noFill/>
            <a:miter lim="800000"/>
            <a:headEnd/>
            <a:tailEnd/>
          </a:ln>
          <a:effectLst/>
        </p:spPr>
      </p:pic>
      <p:pic>
        <p:nvPicPr>
          <p:cNvPr id="2054" name="Picture 6"/>
          <p:cNvPicPr>
            <a:picLocks noChangeAspect="1" noChangeArrowheads="1"/>
          </p:cNvPicPr>
          <p:nvPr/>
        </p:nvPicPr>
        <p:blipFill>
          <a:blip r:embed="rId7"/>
          <a:srcRect/>
          <a:stretch>
            <a:fillRect/>
          </a:stretch>
        </p:blipFill>
        <p:spPr bwMode="auto">
          <a:xfrm>
            <a:off x="857224" y="5072074"/>
            <a:ext cx="6370299" cy="428628"/>
          </a:xfrm>
          <a:prstGeom prst="rect">
            <a:avLst/>
          </a:prstGeom>
          <a:noFill/>
          <a:ln w="9525">
            <a:noFill/>
            <a:miter lim="800000"/>
            <a:headEnd/>
            <a:tailEnd/>
          </a:ln>
          <a:effectLst/>
        </p:spPr>
      </p:pic>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洼地和伪洼地</a:t>
            </a:r>
            <a:endParaRPr lang="zh-CN" altLang="en-US" dirty="0"/>
          </a:p>
        </p:txBody>
      </p:sp>
      <p:sp>
        <p:nvSpPr>
          <p:cNvPr id="3" name="内容占位符 2"/>
          <p:cNvSpPr>
            <a:spLocks noGrp="1"/>
          </p:cNvSpPr>
          <p:nvPr>
            <p:ph idx="1"/>
          </p:nvPr>
        </p:nvSpPr>
        <p:spPr/>
        <p:txBody>
          <a:bodyPr>
            <a:normAutofit/>
          </a:bodyPr>
          <a:lstStyle/>
          <a:p>
            <a:r>
              <a:rPr lang="zh-CN" altLang="en-US" dirty="0" smtClean="0"/>
              <a:t>洼地指近似封闭的比周围地面低洼的地形。</a:t>
            </a:r>
            <a:endParaRPr lang="en-US" altLang="zh-CN" dirty="0" smtClean="0"/>
          </a:p>
          <a:p>
            <a:r>
              <a:rPr lang="zh-CN" altLang="en-US" dirty="0" smtClean="0"/>
              <a:t>关于</a:t>
            </a:r>
            <a:r>
              <a:rPr lang="zh-CN" altLang="en-US" dirty="0" smtClean="0">
                <a:solidFill>
                  <a:srgbClr val="FF0000"/>
                </a:solidFill>
              </a:rPr>
              <a:t>伪洼地</a:t>
            </a:r>
            <a:endParaRPr lang="en-US" altLang="zh-CN" dirty="0" smtClean="0">
              <a:solidFill>
                <a:srgbClr val="FF0000"/>
              </a:solidFill>
            </a:endParaRPr>
          </a:p>
          <a:p>
            <a:pPr>
              <a:buNone/>
            </a:pPr>
            <a:r>
              <a:rPr lang="zh-CN" altLang="en-US" dirty="0" smtClean="0"/>
              <a:t>也就是说洼地容</a:t>
            </a:r>
            <a:endParaRPr lang="en-US" altLang="zh-CN" dirty="0" smtClean="0"/>
          </a:p>
          <a:p>
            <a:pPr>
              <a:buNone/>
            </a:pPr>
            <a:r>
              <a:rPr lang="zh-CN" altLang="en-US" dirty="0" smtClean="0"/>
              <a:t>积或者面积（</a:t>
            </a:r>
            <a:r>
              <a:rPr lang="zh-CN" altLang="en-US" dirty="0" smtClean="0">
                <a:solidFill>
                  <a:srgbClr val="FF0000"/>
                </a:solidFill>
              </a:rPr>
              <a:t>洼</a:t>
            </a:r>
            <a:endParaRPr lang="en-US" altLang="zh-CN" dirty="0" smtClean="0">
              <a:solidFill>
                <a:srgbClr val="FF0000"/>
              </a:solidFill>
            </a:endParaRPr>
          </a:p>
          <a:p>
            <a:pPr>
              <a:buNone/>
            </a:pPr>
            <a:r>
              <a:rPr lang="zh-CN" altLang="en-US" dirty="0" smtClean="0">
                <a:solidFill>
                  <a:srgbClr val="FF0000"/>
                </a:solidFill>
              </a:rPr>
              <a:t>底注满水后水面</a:t>
            </a:r>
            <a:endParaRPr lang="en-US" altLang="zh-CN" dirty="0" smtClean="0">
              <a:solidFill>
                <a:srgbClr val="FF0000"/>
              </a:solidFill>
            </a:endParaRPr>
          </a:p>
          <a:p>
            <a:pPr>
              <a:buNone/>
            </a:pPr>
            <a:r>
              <a:rPr lang="zh-CN" altLang="en-US" dirty="0" smtClean="0">
                <a:solidFill>
                  <a:srgbClr val="FF0000"/>
                </a:solidFill>
              </a:rPr>
              <a:t>面积</a:t>
            </a:r>
            <a:r>
              <a:rPr lang="zh-CN" altLang="en-US" dirty="0" smtClean="0"/>
              <a:t>）小于一定值</a:t>
            </a:r>
            <a:endParaRPr lang="en-US" altLang="zh-CN" dirty="0" smtClean="0"/>
          </a:p>
          <a:p>
            <a:pPr>
              <a:buNone/>
            </a:pPr>
            <a:r>
              <a:rPr lang="zh-CN" altLang="en-US" dirty="0" smtClean="0"/>
              <a:t>不会产生淹没，</a:t>
            </a:r>
            <a:endParaRPr lang="en-US" altLang="zh-CN" dirty="0" smtClean="0"/>
          </a:p>
          <a:p>
            <a:pPr>
              <a:buNone/>
            </a:pPr>
            <a:r>
              <a:rPr lang="zh-CN" altLang="en-US" dirty="0" smtClean="0"/>
              <a:t>就称之为伪洼地。</a:t>
            </a:r>
            <a:endParaRPr lang="en-US" altLang="zh-CN" dirty="0" smtClean="0"/>
          </a:p>
          <a:p>
            <a:pPr>
              <a:buNone/>
            </a:pPr>
            <a:r>
              <a:rPr lang="zh-CN" altLang="en-US" dirty="0" smtClean="0"/>
              <a:t>（</a:t>
            </a:r>
            <a:r>
              <a:rPr lang="zh-CN" altLang="en-US" dirty="0" smtClean="0">
                <a:solidFill>
                  <a:srgbClr val="FF0000"/>
                </a:solidFill>
              </a:rPr>
              <a:t>要判断并去除</a:t>
            </a:r>
            <a:r>
              <a:rPr lang="zh-CN" altLang="en-US" dirty="0" smtClean="0"/>
              <a:t>）</a:t>
            </a:r>
            <a:endParaRPr lang="en-US" altLang="zh-CN" dirty="0" smtClean="0"/>
          </a:p>
        </p:txBody>
      </p:sp>
      <p:pic>
        <p:nvPicPr>
          <p:cNvPr id="3074" name="Picture 2"/>
          <p:cNvPicPr>
            <a:picLocks noChangeAspect="1" noChangeArrowheads="1"/>
          </p:cNvPicPr>
          <p:nvPr/>
        </p:nvPicPr>
        <p:blipFill>
          <a:blip r:embed="rId3"/>
          <a:srcRect/>
          <a:stretch>
            <a:fillRect/>
          </a:stretch>
        </p:blipFill>
        <p:spPr bwMode="auto">
          <a:xfrm>
            <a:off x="3571868" y="3286124"/>
            <a:ext cx="4643470" cy="890729"/>
          </a:xfrm>
          <a:prstGeom prst="rect">
            <a:avLst/>
          </a:prstGeom>
          <a:noFill/>
          <a:ln w="9525">
            <a:noFill/>
            <a:miter lim="800000"/>
            <a:headEnd/>
            <a:tailEnd/>
          </a:ln>
          <a:effectLst/>
        </p:spPr>
      </p:pic>
      <p:pic>
        <p:nvPicPr>
          <p:cNvPr id="3075" name="Picture 3"/>
          <p:cNvPicPr>
            <a:picLocks noChangeAspect="1" noChangeArrowheads="1"/>
          </p:cNvPicPr>
          <p:nvPr/>
        </p:nvPicPr>
        <p:blipFill>
          <a:blip r:embed="rId4"/>
          <a:srcRect/>
          <a:stretch>
            <a:fillRect/>
          </a:stretch>
        </p:blipFill>
        <p:spPr bwMode="auto">
          <a:xfrm>
            <a:off x="3571868" y="4143380"/>
            <a:ext cx="4643470" cy="2150031"/>
          </a:xfrm>
          <a:prstGeom prst="rect">
            <a:avLst/>
          </a:prstGeom>
          <a:noFill/>
          <a:ln w="9525">
            <a:noFill/>
            <a:miter lim="800000"/>
            <a:headEnd/>
            <a:tailEnd/>
          </a:ln>
          <a:effectLst/>
        </p:spPr>
      </p:pic>
    </p:spTree>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淹没分类</a:t>
            </a:r>
            <a:endParaRPr lang="zh-CN" altLang="en-US" dirty="0"/>
          </a:p>
        </p:txBody>
      </p:sp>
      <p:sp>
        <p:nvSpPr>
          <p:cNvPr id="3" name="内容占位符 2"/>
          <p:cNvSpPr>
            <a:spLocks noGrp="1"/>
          </p:cNvSpPr>
          <p:nvPr>
            <p:ph idx="1"/>
          </p:nvPr>
        </p:nvSpPr>
        <p:spPr/>
        <p:txBody>
          <a:bodyPr/>
          <a:lstStyle/>
          <a:p>
            <a:r>
              <a:rPr lang="zh-CN" altLang="en-US" dirty="0" smtClean="0"/>
              <a:t>无源淹没</a:t>
            </a:r>
            <a:endParaRPr lang="en-US" altLang="zh-CN" dirty="0" smtClean="0"/>
          </a:p>
          <a:p>
            <a:pPr>
              <a:buNone/>
            </a:pPr>
            <a:r>
              <a:rPr lang="zh-CN" altLang="en-US" dirty="0" smtClean="0"/>
              <a:t>不考虑地域连通性</a:t>
            </a: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endParaRPr lang="en-US" altLang="zh-CN" dirty="0" smtClean="0"/>
          </a:p>
          <a:p>
            <a:pPr>
              <a:buNone/>
            </a:pPr>
            <a:r>
              <a:rPr lang="zh-CN" altLang="en-US" dirty="0" smtClean="0">
                <a:solidFill>
                  <a:srgbClr val="FF0000"/>
                </a:solidFill>
              </a:rPr>
              <a:t>无源淹没相当于立体几何</a:t>
            </a:r>
            <a:endParaRPr lang="en-US" altLang="zh-CN" dirty="0" smtClean="0">
              <a:solidFill>
                <a:srgbClr val="FF0000"/>
              </a:solidFill>
            </a:endParaRPr>
          </a:p>
          <a:p>
            <a:pPr>
              <a:buNone/>
            </a:pPr>
            <a:r>
              <a:rPr lang="zh-CN" altLang="en-US" dirty="0" smtClean="0">
                <a:solidFill>
                  <a:srgbClr val="FF0000"/>
                </a:solidFill>
              </a:rPr>
              <a:t>问题，比较简单。</a:t>
            </a:r>
            <a:endParaRPr lang="en-US" altLang="zh-CN" dirty="0" smtClean="0">
              <a:solidFill>
                <a:srgbClr val="FF0000"/>
              </a:solidFill>
            </a:endParaRPr>
          </a:p>
          <a:p>
            <a:endParaRPr lang="en-US" altLang="zh-CN" dirty="0" smtClean="0"/>
          </a:p>
          <a:p>
            <a:endParaRPr lang="en-US" altLang="zh-CN" dirty="0" smtClean="0"/>
          </a:p>
          <a:p>
            <a:pPr>
              <a:buNone/>
            </a:pPr>
            <a:endParaRPr lang="zh-CN" altLang="en-US" dirty="0"/>
          </a:p>
        </p:txBody>
      </p:sp>
      <p:pic>
        <p:nvPicPr>
          <p:cNvPr id="4098" name="Picture 2"/>
          <p:cNvPicPr>
            <a:picLocks noChangeAspect="1" noChangeArrowheads="1"/>
          </p:cNvPicPr>
          <p:nvPr/>
        </p:nvPicPr>
        <p:blipFill>
          <a:blip r:embed="rId3"/>
          <a:srcRect/>
          <a:stretch>
            <a:fillRect/>
          </a:stretch>
        </p:blipFill>
        <p:spPr bwMode="auto">
          <a:xfrm>
            <a:off x="357158" y="3214686"/>
            <a:ext cx="3985669" cy="1571636"/>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a:srcRect/>
          <a:stretch>
            <a:fillRect/>
          </a:stretch>
        </p:blipFill>
        <p:spPr bwMode="auto">
          <a:xfrm>
            <a:off x="4572000" y="1428736"/>
            <a:ext cx="4055619" cy="4500594"/>
          </a:xfrm>
          <a:prstGeom prst="rect">
            <a:avLst/>
          </a:prstGeom>
          <a:noFill/>
          <a:ln w="9525">
            <a:noFill/>
            <a:miter lim="800000"/>
            <a:headEnd/>
            <a:tailEnd/>
          </a:ln>
          <a:effectLst/>
        </p:spPr>
      </p:pic>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1071546"/>
            <a:ext cx="8186766" cy="5502990"/>
          </a:xfrm>
        </p:spPr>
        <p:txBody>
          <a:bodyPr/>
          <a:lstStyle/>
          <a:p>
            <a:r>
              <a:rPr lang="zh-CN" altLang="en-US" dirty="0" smtClean="0"/>
              <a:t>有源淹没</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pPr>
              <a:buNone/>
            </a:pPr>
            <a:endParaRPr lang="en-US" altLang="zh-CN" dirty="0" smtClean="0"/>
          </a:p>
          <a:p>
            <a:pPr>
              <a:buNone/>
            </a:pPr>
            <a:r>
              <a:rPr lang="zh-CN" altLang="en-US" dirty="0" smtClean="0"/>
              <a:t>有源淹没考虑外界影响，比较复杂，要进行</a:t>
            </a:r>
            <a:r>
              <a:rPr lang="zh-CN" altLang="en-US" dirty="0" smtClean="0">
                <a:solidFill>
                  <a:srgbClr val="FF0000"/>
                </a:solidFill>
              </a:rPr>
              <a:t>水流方向、地表径流、洼底连通</a:t>
            </a:r>
            <a:r>
              <a:rPr lang="zh-CN" altLang="en-US" dirty="0" smtClean="0"/>
              <a:t>的分析。</a:t>
            </a:r>
            <a:endParaRPr lang="en-US" altLang="zh-CN" dirty="0" smtClean="0"/>
          </a:p>
          <a:p>
            <a:pPr>
              <a:buNone/>
            </a:pPr>
            <a:endParaRPr lang="en-US" altLang="zh-CN" dirty="0" smtClean="0"/>
          </a:p>
          <a:p>
            <a:pPr>
              <a:buNone/>
            </a:pPr>
            <a:r>
              <a:rPr lang="zh-CN" altLang="en-US" dirty="0" smtClean="0"/>
              <a:t>其中洼底连通就包含我们所说</a:t>
            </a:r>
            <a:r>
              <a:rPr lang="zh-CN" altLang="en-US" dirty="0" smtClean="0">
                <a:solidFill>
                  <a:srgbClr val="FF0000"/>
                </a:solidFill>
              </a:rPr>
              <a:t>两个洼底相通</a:t>
            </a:r>
            <a:r>
              <a:rPr lang="zh-CN" altLang="en-US" dirty="0" smtClean="0"/>
              <a:t>的过程。</a:t>
            </a:r>
            <a:endParaRPr lang="en-US" altLang="zh-CN" dirty="0" smtClean="0"/>
          </a:p>
          <a:p>
            <a:pPr>
              <a:buNone/>
            </a:pPr>
            <a:endParaRPr lang="en-US" altLang="zh-CN" dirty="0" smtClean="0"/>
          </a:p>
          <a:p>
            <a:pPr>
              <a:buNone/>
            </a:pPr>
            <a:endParaRPr lang="en-US" altLang="zh-CN" dirty="0" smtClean="0"/>
          </a:p>
          <a:p>
            <a:endParaRPr lang="zh-CN" altLang="en-US" dirty="0"/>
          </a:p>
        </p:txBody>
      </p:sp>
      <p:pic>
        <p:nvPicPr>
          <p:cNvPr id="5122" name="Picture 2"/>
          <p:cNvPicPr>
            <a:picLocks noChangeAspect="1" noChangeArrowheads="1"/>
          </p:cNvPicPr>
          <p:nvPr/>
        </p:nvPicPr>
        <p:blipFill>
          <a:blip r:embed="rId3"/>
          <a:srcRect/>
          <a:stretch>
            <a:fillRect/>
          </a:stretch>
        </p:blipFill>
        <p:spPr bwMode="auto">
          <a:xfrm>
            <a:off x="928662" y="1643050"/>
            <a:ext cx="5625742" cy="2214578"/>
          </a:xfrm>
          <a:prstGeom prst="rect">
            <a:avLst/>
          </a:prstGeom>
          <a:noFill/>
          <a:ln w="9525">
            <a:noFill/>
            <a:miter lim="800000"/>
            <a:headEnd/>
            <a:tailEnd/>
          </a:ln>
          <a:effectLst/>
        </p:spPr>
      </p:pic>
    </p:spTree>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剔除伪洼地</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面积求法</a:t>
            </a:r>
            <a:endParaRPr lang="en-US" altLang="zh-CN" dirty="0" smtClean="0">
              <a:solidFill>
                <a:srgbClr val="FF0000"/>
              </a:solidFill>
            </a:endParaRPr>
          </a:p>
          <a:p>
            <a:pPr>
              <a:buNone/>
            </a:pPr>
            <a:r>
              <a:rPr lang="zh-CN" altLang="en-US" dirty="0" smtClean="0"/>
              <a:t>洼底高程点在</a:t>
            </a:r>
            <a:r>
              <a:rPr lang="en-US" altLang="zh-CN" dirty="0" smtClean="0"/>
              <a:t>X-Y</a:t>
            </a:r>
            <a:r>
              <a:rPr lang="zh-CN" altLang="en-US" dirty="0" smtClean="0"/>
              <a:t>面上的投影的面积</a:t>
            </a:r>
            <a:endParaRPr lang="en-US" altLang="zh-CN" dirty="0" smtClean="0"/>
          </a:p>
          <a:p>
            <a:pPr>
              <a:buNone/>
            </a:pPr>
            <a:r>
              <a:rPr lang="zh-CN" altLang="en-US" dirty="0" smtClean="0"/>
              <a:t>所以被淹没的洼地的水面面积 </a:t>
            </a:r>
            <a:r>
              <a:rPr lang="en-US" altLang="zh-CN" dirty="0" smtClean="0"/>
              <a:t>S </a:t>
            </a:r>
            <a:r>
              <a:rPr lang="zh-CN" altLang="en-US" dirty="0" smtClean="0"/>
              <a:t>为</a:t>
            </a:r>
          </a:p>
          <a:p>
            <a:pPr>
              <a:buNone/>
            </a:pPr>
            <a:r>
              <a:rPr lang="en-US" altLang="zh-CN" dirty="0" smtClean="0"/>
              <a:t>S = S i </a:t>
            </a:r>
            <a:r>
              <a:rPr lang="zh-CN" altLang="en-US" dirty="0" smtClean="0"/>
              <a:t>*</a:t>
            </a:r>
            <a:r>
              <a:rPr lang="en-US" altLang="zh-CN" dirty="0" smtClean="0"/>
              <a:t> N = l/2 </a:t>
            </a:r>
            <a:r>
              <a:rPr lang="zh-CN" altLang="en-US" dirty="0" smtClean="0"/>
              <a:t>*</a:t>
            </a:r>
            <a:r>
              <a:rPr lang="en-US" altLang="zh-CN" dirty="0" smtClean="0"/>
              <a:t> D x </a:t>
            </a:r>
            <a:r>
              <a:rPr lang="zh-CN" altLang="en-US" dirty="0" smtClean="0"/>
              <a:t>*</a:t>
            </a:r>
            <a:r>
              <a:rPr lang="en-US" altLang="zh-CN" dirty="0" smtClean="0"/>
              <a:t>D y </a:t>
            </a:r>
            <a:r>
              <a:rPr lang="zh-CN" altLang="en-US" dirty="0" smtClean="0"/>
              <a:t>*</a:t>
            </a:r>
            <a:r>
              <a:rPr lang="en-US" altLang="zh-CN" dirty="0" smtClean="0"/>
              <a:t> N</a:t>
            </a:r>
          </a:p>
          <a:p>
            <a:pPr>
              <a:buNone/>
            </a:pPr>
            <a:r>
              <a:rPr lang="zh-CN" altLang="en-US" dirty="0" smtClean="0"/>
              <a:t>其中，</a:t>
            </a:r>
            <a:r>
              <a:rPr lang="en-US" altLang="zh-CN" dirty="0" smtClean="0"/>
              <a:t>D x </a:t>
            </a:r>
            <a:r>
              <a:rPr lang="zh-CN" altLang="en-US" dirty="0" smtClean="0"/>
              <a:t>为格网 </a:t>
            </a:r>
            <a:r>
              <a:rPr lang="en-US" altLang="zh-CN" dirty="0" smtClean="0"/>
              <a:t>X </a:t>
            </a:r>
            <a:r>
              <a:rPr lang="zh-CN" altLang="en-US" dirty="0" smtClean="0"/>
              <a:t>间隔，</a:t>
            </a:r>
            <a:r>
              <a:rPr lang="en-US" altLang="zh-CN" dirty="0" smtClean="0"/>
              <a:t>D y </a:t>
            </a:r>
            <a:r>
              <a:rPr lang="zh-CN" altLang="en-US" dirty="0" smtClean="0"/>
              <a:t>为格网 </a:t>
            </a:r>
            <a:r>
              <a:rPr lang="en-US" altLang="zh-CN" dirty="0" smtClean="0"/>
              <a:t>Y </a:t>
            </a:r>
            <a:r>
              <a:rPr lang="zh-CN" altLang="en-US" dirty="0" smtClean="0"/>
              <a:t>间隔，</a:t>
            </a:r>
            <a:r>
              <a:rPr lang="en-US" altLang="zh-CN" dirty="0" smtClean="0"/>
              <a:t>N </a:t>
            </a:r>
            <a:r>
              <a:rPr lang="zh-CN" altLang="en-US" dirty="0" smtClean="0"/>
              <a:t>为洼地内所淹没的三角形的个数。</a:t>
            </a:r>
            <a:endParaRPr lang="en-US" altLang="zh-CN" dirty="0" smtClean="0"/>
          </a:p>
          <a:p>
            <a:pPr>
              <a:buNone/>
            </a:pPr>
            <a:endParaRPr lang="en-US" altLang="zh-CN" dirty="0" smtClean="0"/>
          </a:p>
          <a:p>
            <a:pPr>
              <a:buNone/>
            </a:pPr>
            <a:r>
              <a:rPr lang="zh-CN" altLang="en-US" dirty="0" smtClean="0"/>
              <a:t>如右上图，即</a:t>
            </a:r>
            <a:r>
              <a:rPr lang="zh-CN" altLang="en-US" dirty="0" smtClean="0">
                <a:solidFill>
                  <a:srgbClr val="FF0000"/>
                </a:solidFill>
              </a:rPr>
              <a:t>一格为两个三角形，不满一格算半格，即一个三角形</a:t>
            </a:r>
            <a:r>
              <a:rPr lang="zh-CN" altLang="en-US" dirty="0" smtClean="0"/>
              <a:t>。</a:t>
            </a:r>
            <a:endParaRPr lang="zh-CN" altLang="en-US" dirty="0"/>
          </a:p>
        </p:txBody>
      </p:sp>
      <p:pic>
        <p:nvPicPr>
          <p:cNvPr id="4" name="图片 3" descr="text012004.png"/>
          <p:cNvPicPr>
            <a:picLocks noChangeAspect="1"/>
          </p:cNvPicPr>
          <p:nvPr/>
        </p:nvPicPr>
        <p:blipFill>
          <a:blip r:embed="rId3"/>
          <a:stretch>
            <a:fillRect/>
          </a:stretch>
        </p:blipFill>
        <p:spPr>
          <a:xfrm>
            <a:off x="6572264" y="714356"/>
            <a:ext cx="2143140" cy="2867262"/>
          </a:xfrm>
          <a:prstGeom prst="rect">
            <a:avLst/>
          </a:prstGeom>
        </p:spPr>
      </p:pic>
    </p:spTree>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785794"/>
            <a:ext cx="8229600" cy="5286412"/>
          </a:xfrm>
        </p:spPr>
        <p:txBody>
          <a:bodyPr/>
          <a:lstStyle/>
          <a:p>
            <a:r>
              <a:rPr lang="zh-CN" altLang="en-US" dirty="0" smtClean="0"/>
              <a:t>容积求法</a:t>
            </a:r>
            <a:endParaRPr lang="en-US" altLang="zh-CN" dirty="0" smtClean="0"/>
          </a:p>
          <a:p>
            <a:pPr>
              <a:buNone/>
            </a:pPr>
            <a:r>
              <a:rPr lang="zh-CN" altLang="en-US" dirty="0" smtClean="0"/>
              <a:t>每一点的容积是以该点所在的洼地高度减去该点的值为高度、以某值为边长、底面为正方形（或矩形）的柱体的容积。将洼地中高度值小于洼地溢口点的高度值的点的容积累加后，就得到洼地的容积。</a:t>
            </a:r>
            <a:endParaRPr lang="en-US" altLang="zh-CN" dirty="0" smtClean="0"/>
          </a:p>
          <a:p>
            <a:pPr>
              <a:buNone/>
            </a:pPr>
            <a:endParaRPr lang="en-US" altLang="zh-CN" dirty="0" smtClean="0"/>
          </a:p>
          <a:p>
            <a:pPr>
              <a:buNone/>
            </a:pPr>
            <a:r>
              <a:rPr lang="zh-CN" altLang="en-US" dirty="0" smtClean="0"/>
              <a:t>如果容积或者面积有一项小于</a:t>
            </a:r>
            <a:r>
              <a:rPr lang="zh-CN" altLang="en-US" dirty="0" smtClean="0">
                <a:solidFill>
                  <a:srgbClr val="FF0000"/>
                </a:solidFill>
              </a:rPr>
              <a:t>阈值</a:t>
            </a:r>
            <a:r>
              <a:rPr lang="zh-CN" altLang="en-US" dirty="0" smtClean="0"/>
              <a:t>（是否为洼地的临界值，</a:t>
            </a:r>
            <a:r>
              <a:rPr lang="zh-CN" altLang="en-US" dirty="0" smtClean="0">
                <a:solidFill>
                  <a:srgbClr val="FF0000"/>
                </a:solidFill>
              </a:rPr>
              <a:t>自己根据情况设置</a:t>
            </a:r>
            <a:r>
              <a:rPr lang="zh-CN" altLang="en-US" dirty="0" smtClean="0"/>
              <a:t>），就进行剔除。</a:t>
            </a:r>
            <a:endParaRPr lang="zh-CN" altLang="en-US" dirty="0"/>
          </a:p>
        </p:txBody>
      </p:sp>
    </p:spTree>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28670"/>
            <a:ext cx="8229600" cy="5645866"/>
          </a:xfrm>
        </p:spPr>
        <p:txBody>
          <a:bodyPr/>
          <a:lstStyle/>
          <a:p>
            <a:r>
              <a:rPr lang="zh-CN" altLang="en-US" dirty="0" smtClean="0"/>
              <a:t>伪洼地的剔除</a:t>
            </a:r>
            <a:endParaRPr lang="en-US" altLang="zh-CN" dirty="0" smtClean="0"/>
          </a:p>
          <a:p>
            <a:pPr>
              <a:buNone/>
            </a:pPr>
            <a:r>
              <a:rPr lang="zh-CN" altLang="en-US" dirty="0" smtClean="0"/>
              <a:t>在</a:t>
            </a:r>
            <a:r>
              <a:rPr lang="en-US" altLang="zh-CN" dirty="0" smtClean="0"/>
              <a:t>DEM</a:t>
            </a:r>
            <a:r>
              <a:rPr lang="zh-CN" altLang="en-US" dirty="0" smtClean="0"/>
              <a:t>地形图上将认为是伪洼地的高程改为周围高程的</a:t>
            </a:r>
            <a:r>
              <a:rPr lang="zh-CN" altLang="en-US" dirty="0" smtClean="0">
                <a:solidFill>
                  <a:srgbClr val="FF0000"/>
                </a:solidFill>
              </a:rPr>
              <a:t>平均值</a:t>
            </a:r>
            <a:r>
              <a:rPr lang="zh-CN" altLang="en-US" dirty="0" smtClean="0"/>
              <a:t>，即可消除伪洼地。</a:t>
            </a:r>
            <a:endParaRPr lang="en-US" altLang="zh-CN" dirty="0" smtClean="0"/>
          </a:p>
          <a:p>
            <a:pPr>
              <a:buNone/>
            </a:pPr>
            <a:endParaRPr lang="en-US" altLang="zh-CN" dirty="0" smtClean="0"/>
          </a:p>
          <a:p>
            <a:pPr>
              <a:buNone/>
            </a:pPr>
            <a:r>
              <a:rPr lang="zh-CN" altLang="en-US" dirty="0" smtClean="0"/>
              <a:t>伪洼地的去除可通过修正 </a:t>
            </a:r>
            <a:r>
              <a:rPr lang="en-US" altLang="zh-CN" dirty="0" smtClean="0"/>
              <a:t>DEM </a:t>
            </a:r>
            <a:r>
              <a:rPr lang="zh-CN" altLang="en-US" dirty="0" smtClean="0"/>
              <a:t>数据来实施，</a:t>
            </a:r>
          </a:p>
          <a:p>
            <a:pPr>
              <a:buNone/>
            </a:pPr>
            <a:r>
              <a:rPr lang="zh-CN" altLang="en-US" dirty="0" smtClean="0"/>
              <a:t>具体方法有多种：</a:t>
            </a:r>
            <a:r>
              <a:rPr lang="zh-CN" altLang="en-US" dirty="0" smtClean="0">
                <a:solidFill>
                  <a:srgbClr val="FF0000"/>
                </a:solidFill>
              </a:rPr>
              <a:t>将伪洼地底点高程赋以该点周围</a:t>
            </a:r>
          </a:p>
          <a:p>
            <a:pPr>
              <a:buNone/>
            </a:pPr>
            <a:r>
              <a:rPr lang="zh-CN" altLang="en-US" dirty="0" smtClean="0">
                <a:solidFill>
                  <a:srgbClr val="FF0000"/>
                </a:solidFill>
              </a:rPr>
              <a:t>点的最低点高程，或者取周围点的平均值，或者通过某一种差分算法获得高程值均可。</a:t>
            </a:r>
            <a:endParaRPr lang="zh-CN" altLang="en-US" dirty="0">
              <a:solidFill>
                <a:srgbClr val="FF0000"/>
              </a:solidFill>
            </a:endParaRP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5720" y="500042"/>
            <a:ext cx="8229600" cy="1066800"/>
          </a:xfrm>
        </p:spPr>
        <p:txBody>
          <a:bodyPr>
            <a:normAutofit/>
          </a:bodyPr>
          <a:lstStyle/>
          <a:p>
            <a:r>
              <a:rPr lang="zh-CN" altLang="en-US" dirty="0" smtClean="0"/>
              <a:t>基于</a:t>
            </a:r>
            <a:r>
              <a:rPr lang="en-US" altLang="zh-CN" dirty="0" smtClean="0"/>
              <a:t>DEM</a:t>
            </a:r>
            <a:r>
              <a:rPr lang="zh-CN" altLang="en-US" dirty="0" smtClean="0"/>
              <a:t>的淹没分析</a:t>
            </a:r>
            <a:endParaRPr lang="zh-CN" altLang="en-US" dirty="0"/>
          </a:p>
        </p:txBody>
      </p:sp>
      <p:sp>
        <p:nvSpPr>
          <p:cNvPr id="3" name="内容占位符 2"/>
          <p:cNvSpPr>
            <a:spLocks noGrp="1"/>
          </p:cNvSpPr>
          <p:nvPr>
            <p:ph idx="1"/>
          </p:nvPr>
        </p:nvSpPr>
        <p:spPr>
          <a:xfrm>
            <a:off x="357158" y="1428736"/>
            <a:ext cx="8229600" cy="4325112"/>
          </a:xfrm>
        </p:spPr>
        <p:txBody>
          <a:bodyPr/>
          <a:lstStyle/>
          <a:p>
            <a:r>
              <a:rPr lang="zh-CN" altLang="en-US" dirty="0" smtClean="0"/>
              <a:t>无源淹没的分析比较简单，主要讨论</a:t>
            </a:r>
            <a:r>
              <a:rPr lang="zh-CN" altLang="en-US" dirty="0" smtClean="0">
                <a:solidFill>
                  <a:srgbClr val="FF0000"/>
                </a:solidFill>
              </a:rPr>
              <a:t>有源淹没</a:t>
            </a:r>
            <a:endParaRPr lang="zh-CN" altLang="en-US" dirty="0">
              <a:solidFill>
                <a:srgbClr val="FF0000"/>
              </a:solidFill>
            </a:endParaRPr>
          </a:p>
        </p:txBody>
      </p:sp>
      <p:pic>
        <p:nvPicPr>
          <p:cNvPr id="4" name="Picture 3"/>
          <p:cNvPicPr>
            <a:picLocks noChangeAspect="1" noChangeArrowheads="1"/>
          </p:cNvPicPr>
          <p:nvPr/>
        </p:nvPicPr>
        <p:blipFill>
          <a:blip r:embed="rId3"/>
          <a:srcRect/>
          <a:stretch>
            <a:fillRect/>
          </a:stretch>
        </p:blipFill>
        <p:spPr bwMode="auto">
          <a:xfrm>
            <a:off x="642910" y="1928802"/>
            <a:ext cx="4055619" cy="4500594"/>
          </a:xfrm>
          <a:prstGeom prst="rect">
            <a:avLst/>
          </a:prstGeom>
          <a:noFill/>
          <a:ln w="9525">
            <a:noFill/>
            <a:miter lim="800000"/>
            <a:headEnd/>
            <a:tailEnd/>
          </a:ln>
          <a:effectLst/>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85794"/>
            <a:ext cx="8229600" cy="5788742"/>
          </a:xfrm>
        </p:spPr>
        <p:txBody>
          <a:bodyPr/>
          <a:lstStyle/>
          <a:p>
            <a:r>
              <a:rPr lang="zh-CN" altLang="en-US" dirty="0" smtClean="0"/>
              <a:t>基于</a:t>
            </a:r>
            <a:r>
              <a:rPr lang="en-US" altLang="zh-CN" dirty="0" smtClean="0"/>
              <a:t>DEM</a:t>
            </a:r>
            <a:r>
              <a:rPr lang="zh-CN" altLang="en-US" dirty="0" smtClean="0"/>
              <a:t>的有源淹没分析</a:t>
            </a:r>
            <a:endParaRPr lang="en-US" altLang="zh-CN" dirty="0" smtClean="0"/>
          </a:p>
          <a:p>
            <a:pPr>
              <a:buNone/>
            </a:pPr>
            <a:r>
              <a:rPr lang="en-US" altLang="zh-CN" dirty="0" smtClean="0"/>
              <a:t>1·</a:t>
            </a:r>
            <a:r>
              <a:rPr lang="zh-CN" altLang="en-US" dirty="0" smtClean="0"/>
              <a:t>水流方向的判断</a:t>
            </a:r>
            <a:endParaRPr lang="en-US" altLang="zh-CN" dirty="0" smtClean="0"/>
          </a:p>
          <a:p>
            <a:pPr>
              <a:buNone/>
            </a:pPr>
            <a:r>
              <a:rPr lang="zh-CN" altLang="en-US" dirty="0" smtClean="0"/>
              <a:t>这个就是以一个高程</a:t>
            </a:r>
            <a:endParaRPr lang="en-US" altLang="zh-CN" dirty="0" smtClean="0"/>
          </a:p>
          <a:p>
            <a:pPr>
              <a:buNone/>
            </a:pPr>
            <a:r>
              <a:rPr lang="zh-CN" altLang="en-US" dirty="0" smtClean="0"/>
              <a:t>为中心，周围八个点</a:t>
            </a:r>
            <a:endParaRPr lang="en-US" altLang="zh-CN" dirty="0" smtClean="0"/>
          </a:p>
          <a:p>
            <a:pPr>
              <a:buNone/>
            </a:pPr>
            <a:r>
              <a:rPr lang="zh-CN" altLang="en-US" dirty="0" smtClean="0"/>
              <a:t>（周围指向中心）坡度</a:t>
            </a:r>
            <a:endParaRPr lang="en-US" altLang="zh-CN" dirty="0" smtClean="0"/>
          </a:p>
          <a:p>
            <a:pPr>
              <a:buNone/>
            </a:pPr>
            <a:r>
              <a:rPr lang="zh-CN" altLang="en-US" dirty="0" smtClean="0"/>
              <a:t>最大为入水点，</a:t>
            </a:r>
            <a:endParaRPr lang="en-US" altLang="zh-CN" dirty="0" smtClean="0"/>
          </a:p>
          <a:p>
            <a:pPr>
              <a:buNone/>
            </a:pPr>
            <a:r>
              <a:rPr lang="zh-CN" altLang="en-US" dirty="0" smtClean="0"/>
              <a:t>（中心指向周围）坡度</a:t>
            </a:r>
            <a:endParaRPr lang="en-US" altLang="zh-CN" dirty="0" smtClean="0"/>
          </a:p>
          <a:p>
            <a:pPr>
              <a:buNone/>
            </a:pPr>
            <a:r>
              <a:rPr lang="zh-CN" altLang="en-US" dirty="0" smtClean="0"/>
              <a:t>最大为出水点。</a:t>
            </a:r>
            <a:endParaRPr lang="en-US" altLang="zh-CN" dirty="0" smtClean="0"/>
          </a:p>
          <a:p>
            <a:pPr>
              <a:buNone/>
            </a:pPr>
            <a:endParaRPr lang="en-US" altLang="zh-CN" dirty="0" smtClean="0"/>
          </a:p>
          <a:p>
            <a:pPr>
              <a:buNone/>
            </a:pPr>
            <a:endParaRPr lang="zh-CN" altLang="en-US" dirty="0"/>
          </a:p>
        </p:txBody>
      </p:sp>
      <p:pic>
        <p:nvPicPr>
          <p:cNvPr id="6146" name="Picture 2"/>
          <p:cNvPicPr>
            <a:picLocks noChangeAspect="1" noChangeArrowheads="1"/>
          </p:cNvPicPr>
          <p:nvPr/>
        </p:nvPicPr>
        <p:blipFill>
          <a:blip r:embed="rId3"/>
          <a:srcRect/>
          <a:stretch>
            <a:fillRect/>
          </a:stretch>
        </p:blipFill>
        <p:spPr bwMode="auto">
          <a:xfrm>
            <a:off x="4357686" y="1357298"/>
            <a:ext cx="4214842" cy="4188417"/>
          </a:xfrm>
          <a:prstGeom prst="rect">
            <a:avLst/>
          </a:prstGeom>
          <a:noFill/>
          <a:ln w="9525">
            <a:noFill/>
            <a:miter lim="800000"/>
            <a:headEnd/>
            <a:tailEnd/>
          </a:ln>
          <a:effectLst/>
        </p:spPr>
      </p:pic>
      <p:pic>
        <p:nvPicPr>
          <p:cNvPr id="5" name="图片 4" descr="timg.jpg"/>
          <p:cNvPicPr>
            <a:picLocks noChangeAspect="1"/>
          </p:cNvPicPr>
          <p:nvPr/>
        </p:nvPicPr>
        <p:blipFill>
          <a:blip r:embed="rId4"/>
          <a:stretch>
            <a:fillRect/>
          </a:stretch>
        </p:blipFill>
        <p:spPr>
          <a:xfrm>
            <a:off x="428596" y="4524372"/>
            <a:ext cx="3889380" cy="2333628"/>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timg.jpg"/>
          <p:cNvPicPr>
            <a:picLocks noChangeAspect="1"/>
          </p:cNvPicPr>
          <p:nvPr/>
        </p:nvPicPr>
        <p:blipFill>
          <a:blip r:embed="rId3"/>
          <a:stretch>
            <a:fillRect/>
          </a:stretch>
        </p:blipFill>
        <p:spPr>
          <a:xfrm>
            <a:off x="285720" y="4357694"/>
            <a:ext cx="3889380" cy="2333628"/>
          </a:xfrm>
          <a:prstGeom prst="rect">
            <a:avLst/>
          </a:prstGeom>
        </p:spPr>
      </p:pic>
      <p:sp>
        <p:nvSpPr>
          <p:cNvPr id="3" name="内容占位符 2"/>
          <p:cNvSpPr>
            <a:spLocks noGrp="1"/>
          </p:cNvSpPr>
          <p:nvPr>
            <p:ph idx="1"/>
          </p:nvPr>
        </p:nvSpPr>
        <p:spPr>
          <a:xfrm>
            <a:off x="457200" y="1000108"/>
            <a:ext cx="8229600" cy="5574428"/>
          </a:xfrm>
        </p:spPr>
        <p:txBody>
          <a:bodyPr/>
          <a:lstStyle/>
          <a:p>
            <a:r>
              <a:rPr lang="en-US" altLang="zh-CN" dirty="0" smtClean="0"/>
              <a:t>2·</a:t>
            </a:r>
            <a:r>
              <a:rPr lang="zh-CN" altLang="en-US" dirty="0" smtClean="0"/>
              <a:t>地表径流的形成</a:t>
            </a:r>
            <a:endParaRPr lang="en-US" altLang="zh-CN" dirty="0" smtClean="0"/>
          </a:p>
          <a:p>
            <a:pPr>
              <a:buNone/>
            </a:pPr>
            <a:r>
              <a:rPr lang="zh-CN" altLang="en-US" dirty="0" smtClean="0"/>
              <a:t>前面提到的山谷与山</a:t>
            </a:r>
            <a:endParaRPr lang="en-US" altLang="zh-CN" dirty="0" smtClean="0"/>
          </a:p>
          <a:p>
            <a:pPr>
              <a:buNone/>
            </a:pPr>
            <a:r>
              <a:rPr lang="zh-CN" altLang="en-US" dirty="0" smtClean="0"/>
              <a:t>脊在这里体现。径流</a:t>
            </a:r>
            <a:endParaRPr lang="en-US" altLang="zh-CN" dirty="0" smtClean="0"/>
          </a:p>
          <a:p>
            <a:pPr>
              <a:buNone/>
            </a:pPr>
            <a:r>
              <a:rPr lang="zh-CN" altLang="en-US" dirty="0" smtClean="0"/>
              <a:t>沿着山脊沟渠流向低</a:t>
            </a:r>
            <a:endParaRPr lang="en-US" altLang="zh-CN" dirty="0" smtClean="0"/>
          </a:p>
          <a:p>
            <a:pPr>
              <a:buNone/>
            </a:pPr>
            <a:r>
              <a:rPr lang="zh-CN" altLang="en-US" dirty="0" smtClean="0"/>
              <a:t>处。</a:t>
            </a:r>
            <a:endParaRPr lang="en-US" altLang="zh-CN" dirty="0" smtClean="0"/>
          </a:p>
          <a:p>
            <a:pPr>
              <a:buNone/>
            </a:pPr>
            <a:r>
              <a:rPr lang="zh-CN" altLang="en-US" dirty="0" smtClean="0"/>
              <a:t>右边的方法用于判断</a:t>
            </a:r>
            <a:endParaRPr lang="en-US" altLang="zh-CN" dirty="0" smtClean="0"/>
          </a:p>
          <a:p>
            <a:pPr>
              <a:buNone/>
            </a:pPr>
            <a:r>
              <a:rPr lang="zh-CN" altLang="en-US" dirty="0" smtClean="0"/>
              <a:t>山谷</a:t>
            </a:r>
            <a:r>
              <a:rPr lang="zh-CN" altLang="en-US" dirty="0" smtClean="0">
                <a:solidFill>
                  <a:srgbClr val="FF0000"/>
                </a:solidFill>
              </a:rPr>
              <a:t>点（只是点）</a:t>
            </a:r>
            <a:r>
              <a:rPr lang="zh-CN" altLang="en-US" dirty="0" smtClean="0"/>
              <a:t>。</a:t>
            </a:r>
            <a:endParaRPr lang="en-US" altLang="zh-CN" dirty="0" smtClean="0"/>
          </a:p>
          <a:p>
            <a:pPr>
              <a:buNone/>
            </a:pPr>
            <a:endParaRPr lang="en-US" altLang="zh-CN" dirty="0" smtClean="0"/>
          </a:p>
          <a:p>
            <a:pPr>
              <a:buNone/>
            </a:pPr>
            <a:endParaRPr lang="en-US" altLang="zh-CN" dirty="0" smtClean="0"/>
          </a:p>
          <a:p>
            <a:pPr>
              <a:buNone/>
            </a:pPr>
            <a:endParaRPr lang="zh-CN" altLang="en-US" dirty="0"/>
          </a:p>
        </p:txBody>
      </p:sp>
      <p:pic>
        <p:nvPicPr>
          <p:cNvPr id="5" name="Picture 2"/>
          <p:cNvPicPr>
            <a:picLocks noChangeAspect="1" noChangeArrowheads="1"/>
          </p:cNvPicPr>
          <p:nvPr/>
        </p:nvPicPr>
        <p:blipFill>
          <a:blip r:embed="rId4"/>
          <a:srcRect/>
          <a:stretch>
            <a:fillRect/>
          </a:stretch>
        </p:blipFill>
        <p:spPr bwMode="auto">
          <a:xfrm>
            <a:off x="3813278" y="1000108"/>
            <a:ext cx="5330722" cy="4286280"/>
          </a:xfrm>
          <a:prstGeom prst="rect">
            <a:avLst/>
          </a:prstGeom>
          <a:noFill/>
          <a:ln w="9525">
            <a:noFill/>
            <a:miter lim="800000"/>
            <a:headEnd/>
            <a:tailEnd/>
          </a:ln>
          <a:effectLst/>
        </p:spPr>
      </p:pic>
      <p:sp>
        <p:nvSpPr>
          <p:cNvPr id="7" name="TextBox 6"/>
          <p:cNvSpPr txBox="1"/>
          <p:nvPr/>
        </p:nvSpPr>
        <p:spPr>
          <a:xfrm>
            <a:off x="714348" y="4929198"/>
            <a:ext cx="714380" cy="584775"/>
          </a:xfrm>
          <a:prstGeom prst="rect">
            <a:avLst/>
          </a:prstGeom>
          <a:noFill/>
        </p:spPr>
        <p:txBody>
          <a:bodyPr wrap="square" rtlCol="0">
            <a:spAutoFit/>
          </a:bodyPr>
          <a:lstStyle/>
          <a:p>
            <a:r>
              <a:rPr lang="en-US" altLang="zh-CN" sz="3200" b="1" dirty="0" smtClean="0"/>
              <a:t>h</a:t>
            </a:r>
            <a:r>
              <a:rPr lang="en-US" altLang="zh-CN" sz="2400" b="1" dirty="0" smtClean="0"/>
              <a:t>i</a:t>
            </a:r>
            <a:endParaRPr lang="zh-CN" altLang="en-US" sz="2400" b="1" dirty="0"/>
          </a:p>
        </p:txBody>
      </p:sp>
      <p:sp>
        <p:nvSpPr>
          <p:cNvPr id="9" name="TextBox 8"/>
          <p:cNvSpPr txBox="1"/>
          <p:nvPr/>
        </p:nvSpPr>
        <p:spPr>
          <a:xfrm>
            <a:off x="2000232" y="4214818"/>
            <a:ext cx="928694" cy="584775"/>
          </a:xfrm>
          <a:prstGeom prst="rect">
            <a:avLst/>
          </a:prstGeom>
          <a:noFill/>
        </p:spPr>
        <p:txBody>
          <a:bodyPr wrap="square" rtlCol="0">
            <a:spAutoFit/>
          </a:bodyPr>
          <a:lstStyle/>
          <a:p>
            <a:r>
              <a:rPr lang="en-US" altLang="zh-CN" sz="3200" b="1" dirty="0" err="1" smtClean="0"/>
              <a:t>h</a:t>
            </a:r>
            <a:r>
              <a:rPr lang="en-US" altLang="zh-CN" sz="2400" b="1" dirty="0" err="1" smtClean="0"/>
              <a:t>j</a:t>
            </a:r>
            <a:endParaRPr lang="zh-CN" altLang="en-US" sz="2400" b="1"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00108"/>
            <a:ext cx="8229600" cy="5574428"/>
          </a:xfrm>
        </p:spPr>
        <p:txBody>
          <a:bodyPr/>
          <a:lstStyle/>
          <a:p>
            <a:r>
              <a:rPr lang="zh-CN" altLang="en-US" dirty="0" smtClean="0"/>
              <a:t>将</a:t>
            </a:r>
            <a:r>
              <a:rPr lang="zh-CN" altLang="en-US" dirty="0" smtClean="0">
                <a:solidFill>
                  <a:srgbClr val="FF0000"/>
                </a:solidFill>
              </a:rPr>
              <a:t>山谷点</a:t>
            </a:r>
            <a:r>
              <a:rPr lang="zh-CN" altLang="en-US" dirty="0" smtClean="0"/>
              <a:t>连起来就是</a:t>
            </a:r>
            <a:r>
              <a:rPr lang="zh-CN" altLang="en-US" dirty="0" smtClean="0">
                <a:solidFill>
                  <a:srgbClr val="FF0000"/>
                </a:solidFill>
              </a:rPr>
              <a:t>山谷线</a:t>
            </a:r>
            <a:endParaRPr lang="en-US" altLang="zh-CN" dirty="0" smtClean="0">
              <a:solidFill>
                <a:srgbClr val="FF0000"/>
              </a:solidFill>
            </a:endParaRPr>
          </a:p>
          <a:p>
            <a:pPr>
              <a:buNone/>
            </a:pPr>
            <a:r>
              <a:rPr lang="zh-CN" altLang="en-US" dirty="0" smtClean="0"/>
              <a:t>径流流过山谷线所在的沟渠。下面三种方法判断</a:t>
            </a:r>
            <a:endParaRPr lang="en-US" altLang="zh-CN" dirty="0" smtClean="0"/>
          </a:p>
          <a:p>
            <a:pPr>
              <a:buNone/>
            </a:pPr>
            <a:r>
              <a:rPr lang="zh-CN" altLang="en-US" dirty="0" smtClean="0"/>
              <a:t>山谷线什么时候结束。</a:t>
            </a:r>
            <a:endParaRPr lang="zh-CN" altLang="en-US" dirty="0"/>
          </a:p>
        </p:txBody>
      </p:sp>
      <p:pic>
        <p:nvPicPr>
          <p:cNvPr id="8194" name="Picture 2"/>
          <p:cNvPicPr>
            <a:picLocks noChangeAspect="1" noChangeArrowheads="1"/>
          </p:cNvPicPr>
          <p:nvPr/>
        </p:nvPicPr>
        <p:blipFill>
          <a:blip r:embed="rId3"/>
          <a:srcRect/>
          <a:stretch>
            <a:fillRect/>
          </a:stretch>
        </p:blipFill>
        <p:spPr bwMode="auto">
          <a:xfrm>
            <a:off x="500034" y="2571744"/>
            <a:ext cx="4450610" cy="3571900"/>
          </a:xfrm>
          <a:prstGeom prst="rect">
            <a:avLst/>
          </a:prstGeom>
          <a:noFill/>
          <a:ln w="9525">
            <a:noFill/>
            <a:miter lim="800000"/>
            <a:headEnd/>
            <a:tailEnd/>
          </a:ln>
          <a:effectLst/>
        </p:spPr>
      </p:pic>
      <p:pic>
        <p:nvPicPr>
          <p:cNvPr id="8195" name="Picture 3"/>
          <p:cNvPicPr>
            <a:picLocks noChangeAspect="1" noChangeArrowheads="1"/>
          </p:cNvPicPr>
          <p:nvPr/>
        </p:nvPicPr>
        <p:blipFill>
          <a:blip r:embed="rId4"/>
          <a:srcRect/>
          <a:stretch>
            <a:fillRect/>
          </a:stretch>
        </p:blipFill>
        <p:spPr bwMode="auto">
          <a:xfrm>
            <a:off x="4893407" y="3571876"/>
            <a:ext cx="4250593" cy="1038313"/>
          </a:xfrm>
          <a:prstGeom prst="rect">
            <a:avLst/>
          </a:prstGeom>
          <a:noFill/>
          <a:ln w="9525">
            <a:noFill/>
            <a:miter lim="800000"/>
            <a:headEnd/>
            <a:tailEnd/>
          </a:ln>
          <a:effectLst/>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00108"/>
            <a:ext cx="8229600" cy="5574428"/>
          </a:xfrm>
        </p:spPr>
        <p:txBody>
          <a:bodyPr/>
          <a:lstStyle/>
          <a:p>
            <a:r>
              <a:rPr lang="en-US" altLang="zh-CN" sz="2400" dirty="0" smtClean="0"/>
              <a:t>3</a:t>
            </a:r>
            <a:r>
              <a:rPr lang="en-US" altLang="zh-CN" dirty="0" smtClean="0"/>
              <a:t>· </a:t>
            </a:r>
            <a:r>
              <a:rPr lang="zh-CN" altLang="en-US" dirty="0" smtClean="0"/>
              <a:t>洼地连通情况分析</a:t>
            </a:r>
            <a:endParaRPr lang="en-US" altLang="zh-CN" dirty="0" smtClean="0"/>
          </a:p>
          <a:p>
            <a:pPr>
              <a:buNone/>
            </a:pPr>
            <a:r>
              <a:rPr lang="zh-CN" altLang="en-US" dirty="0" smtClean="0"/>
              <a:t>（</a:t>
            </a:r>
            <a:r>
              <a:rPr lang="en-US" altLang="zh-CN" dirty="0" smtClean="0"/>
              <a:t>1</a:t>
            </a:r>
            <a:r>
              <a:rPr lang="zh-CN" altLang="en-US" dirty="0" smtClean="0"/>
              <a:t>）第一种情况是终止于该洼地。（</a:t>
            </a:r>
            <a:r>
              <a:rPr lang="zh-CN" altLang="en-US" dirty="0" smtClean="0">
                <a:solidFill>
                  <a:srgbClr val="FF0000"/>
                </a:solidFill>
              </a:rPr>
              <a:t>无溢出</a:t>
            </a:r>
            <a:r>
              <a:rPr lang="zh-CN" altLang="en-US" dirty="0" smtClean="0"/>
              <a:t>）</a:t>
            </a:r>
            <a:endParaRPr lang="en-US" altLang="zh-CN" dirty="0" smtClean="0"/>
          </a:p>
          <a:p>
            <a:pPr>
              <a:buNone/>
            </a:pPr>
            <a:r>
              <a:rPr lang="zh-CN" altLang="en-US" dirty="0" smtClean="0"/>
              <a:t>第一种情况可以通过以上</a:t>
            </a:r>
            <a:r>
              <a:rPr lang="zh-CN" altLang="en-US" dirty="0" smtClean="0">
                <a:solidFill>
                  <a:srgbClr val="FF0000"/>
                </a:solidFill>
              </a:rPr>
              <a:t>沟谷判断方法</a:t>
            </a:r>
            <a:r>
              <a:rPr lang="zh-CN" altLang="en-US" dirty="0" smtClean="0"/>
              <a:t>，得</a:t>
            </a:r>
          </a:p>
          <a:p>
            <a:pPr>
              <a:buNone/>
            </a:pPr>
            <a:r>
              <a:rPr lang="zh-CN" altLang="en-US" dirty="0" smtClean="0"/>
              <a:t>出沟谷线，再根据水流方向直接往下游追踪，到最后就能得到由该沟谷或河流连接的洼地，得到他们的连通关系。</a:t>
            </a:r>
            <a:endParaRPr lang="en-US" altLang="zh-CN" dirty="0" smtClean="0"/>
          </a:p>
          <a:p>
            <a:pPr>
              <a:buNone/>
            </a:pPr>
            <a:endParaRPr lang="en-US" altLang="zh-CN" dirty="0" smtClean="0"/>
          </a:p>
          <a:p>
            <a:pPr>
              <a:buNone/>
            </a:pPr>
            <a:r>
              <a:rPr lang="zh-CN" altLang="en-US" dirty="0" smtClean="0"/>
              <a:t>（</a:t>
            </a:r>
            <a:r>
              <a:rPr lang="en-US" altLang="zh-CN" dirty="0" smtClean="0"/>
              <a:t>2</a:t>
            </a:r>
            <a:r>
              <a:rPr lang="zh-CN" altLang="en-US" dirty="0" smtClean="0"/>
              <a:t>）第二种情况最终</a:t>
            </a:r>
            <a:r>
              <a:rPr lang="zh-CN" altLang="en-US" dirty="0" smtClean="0">
                <a:solidFill>
                  <a:srgbClr val="FF0000"/>
                </a:solidFill>
              </a:rPr>
              <a:t>溢出</a:t>
            </a:r>
            <a:r>
              <a:rPr lang="zh-CN" altLang="en-US" dirty="0" smtClean="0"/>
              <a:t>。与别的洼地相通。</a:t>
            </a:r>
            <a:endParaRPr lang="en-US" altLang="zh-CN" dirty="0" smtClean="0"/>
          </a:p>
          <a:p>
            <a:pPr>
              <a:buNone/>
            </a:pPr>
            <a:r>
              <a:rPr lang="zh-CN" altLang="en-US" dirty="0" smtClean="0"/>
              <a:t>第二种情形下，则要先分析找到洼地边</a:t>
            </a:r>
          </a:p>
          <a:p>
            <a:pPr>
              <a:buNone/>
            </a:pPr>
            <a:r>
              <a:rPr lang="zh-CN" altLang="en-US" dirty="0" smtClean="0"/>
              <a:t>缘以及</a:t>
            </a:r>
            <a:r>
              <a:rPr lang="zh-CN" altLang="en-US" dirty="0" smtClean="0">
                <a:solidFill>
                  <a:srgbClr val="FF0000"/>
                </a:solidFill>
              </a:rPr>
              <a:t>溢口</a:t>
            </a:r>
            <a:r>
              <a:rPr lang="zh-CN" altLang="en-US" dirty="0" smtClean="0"/>
              <a:t>，然后才能确定流水的溢出点并判断流</a:t>
            </a:r>
          </a:p>
          <a:p>
            <a:pPr>
              <a:buNone/>
            </a:pPr>
            <a:r>
              <a:rPr lang="zh-CN" altLang="en-US" dirty="0" smtClean="0"/>
              <a:t>水的流向。</a:t>
            </a:r>
          </a:p>
          <a:p>
            <a:pPr>
              <a:buNone/>
            </a:pPr>
            <a:endParaRPr lang="zh-CN" altLang="en-US" dirty="0"/>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28670"/>
            <a:ext cx="8229600" cy="5645866"/>
          </a:xfrm>
        </p:spPr>
        <p:txBody>
          <a:bodyPr/>
          <a:lstStyle/>
          <a:p>
            <a:r>
              <a:rPr lang="zh-CN" altLang="en-US" dirty="0" smtClean="0"/>
              <a:t>在第二种情况下，对于 </a:t>
            </a:r>
            <a:r>
              <a:rPr lang="en-US" altLang="zh-CN" dirty="0" smtClean="0"/>
              <a:t>DEM </a:t>
            </a:r>
            <a:r>
              <a:rPr lang="zh-CN" altLang="en-US" dirty="0" smtClean="0"/>
              <a:t>数据，判断洼地的</a:t>
            </a:r>
            <a:r>
              <a:rPr lang="zh-CN" altLang="en-US" dirty="0" smtClean="0">
                <a:solidFill>
                  <a:srgbClr val="FF0000"/>
                </a:solidFill>
              </a:rPr>
              <a:t>边缘</a:t>
            </a:r>
            <a:r>
              <a:rPr lang="zh-CN" altLang="en-US" dirty="0" smtClean="0"/>
              <a:t>有多种方法。</a:t>
            </a:r>
            <a:endParaRPr lang="en-US" altLang="zh-CN" dirty="0" smtClean="0"/>
          </a:p>
          <a:p>
            <a:r>
              <a:rPr lang="en-US" altLang="zh-CN" dirty="0" smtClean="0"/>
              <a:t>1·</a:t>
            </a:r>
            <a:r>
              <a:rPr lang="zh-CN" altLang="en-US" dirty="0" smtClean="0"/>
              <a:t>射线法。该方法常用平行线扫描和铅垂线扫描。从洼地点数组中取一点，分别沿平行于 </a:t>
            </a:r>
            <a:r>
              <a:rPr lang="en-US" altLang="zh-CN" dirty="0" smtClean="0"/>
              <a:t>X</a:t>
            </a:r>
            <a:r>
              <a:rPr lang="zh-CN" altLang="en-US" dirty="0" smtClean="0"/>
              <a:t>、</a:t>
            </a:r>
            <a:r>
              <a:rPr lang="en-US" altLang="zh-CN" dirty="0" smtClean="0"/>
              <a:t>Y</a:t>
            </a:r>
            <a:r>
              <a:rPr lang="zh-CN" altLang="en-US" dirty="0" smtClean="0"/>
              <a:t>轴线方向扫描，判断扫描到的点的 </a:t>
            </a:r>
            <a:r>
              <a:rPr lang="en-US" altLang="zh-CN" dirty="0" smtClean="0"/>
              <a:t>V R</a:t>
            </a:r>
            <a:r>
              <a:rPr lang="zh-CN" altLang="en-US" dirty="0" smtClean="0"/>
              <a:t>（</a:t>
            </a:r>
            <a:r>
              <a:rPr lang="en-US" altLang="zh-CN" dirty="0" err="1" smtClean="0"/>
              <a:t>i</a:t>
            </a:r>
            <a:r>
              <a:rPr lang="zh-CN" altLang="en-US" dirty="0" smtClean="0"/>
              <a:t>， </a:t>
            </a:r>
            <a:r>
              <a:rPr lang="en-US" altLang="zh-CN" dirty="0" smtClean="0"/>
              <a:t>j </a:t>
            </a:r>
            <a:r>
              <a:rPr lang="zh-CN" altLang="en-US" dirty="0" smtClean="0"/>
              <a:t>） 值。若碰到 </a:t>
            </a:r>
            <a:r>
              <a:rPr lang="en-US" altLang="zh-CN" dirty="0" smtClean="0"/>
              <a:t>VR</a:t>
            </a:r>
            <a:r>
              <a:rPr lang="zh-CN" altLang="en-US" dirty="0" smtClean="0"/>
              <a:t>（</a:t>
            </a:r>
            <a:r>
              <a:rPr lang="en-US" altLang="zh-CN" dirty="0" err="1" smtClean="0"/>
              <a:t>i</a:t>
            </a:r>
            <a:r>
              <a:rPr lang="zh-CN" altLang="en-US" dirty="0" smtClean="0"/>
              <a:t>， </a:t>
            </a:r>
            <a:r>
              <a:rPr lang="en-US" altLang="zh-CN" dirty="0" smtClean="0"/>
              <a:t>j </a:t>
            </a:r>
            <a:r>
              <a:rPr lang="zh-CN" altLang="en-US" dirty="0" smtClean="0"/>
              <a:t>） </a:t>
            </a:r>
            <a:r>
              <a:rPr lang="en-US" altLang="zh-CN" dirty="0" smtClean="0"/>
              <a:t>= l </a:t>
            </a:r>
            <a:r>
              <a:rPr lang="zh-CN" altLang="en-US" dirty="0" smtClean="0"/>
              <a:t>且是从此方向上扫描到的第一点，则此点为洼地边缘点，将其赋予边缘点标志。</a:t>
            </a:r>
            <a:endParaRPr lang="en-US" altLang="zh-CN" dirty="0" smtClean="0"/>
          </a:p>
          <a:p>
            <a:pPr>
              <a:buNone/>
            </a:pPr>
            <a:r>
              <a:rPr lang="zh-CN" altLang="en-US" dirty="0" smtClean="0"/>
              <a:t>（即逐个判断周围点是否为</a:t>
            </a:r>
            <a:r>
              <a:rPr lang="zh-CN" altLang="en-US" dirty="0" smtClean="0">
                <a:solidFill>
                  <a:srgbClr val="FF0000"/>
                </a:solidFill>
              </a:rPr>
              <a:t>脊点，脊点</a:t>
            </a:r>
            <a:r>
              <a:rPr lang="zh-CN" altLang="en-US" dirty="0" smtClean="0"/>
              <a:t>成为边缘点）</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00108"/>
            <a:ext cx="8229600" cy="5574428"/>
          </a:xfrm>
        </p:spPr>
        <p:txBody>
          <a:bodyPr/>
          <a:lstStyle/>
          <a:p>
            <a:r>
              <a:rPr lang="en-US" altLang="zh-CN" dirty="0" smtClean="0"/>
              <a:t>2. </a:t>
            </a:r>
            <a:r>
              <a:rPr lang="zh-CN" altLang="en-US" dirty="0" smtClean="0"/>
              <a:t>扩散法（种子法，</a:t>
            </a:r>
            <a:r>
              <a:rPr lang="en-US" altLang="zh-CN" dirty="0" smtClean="0"/>
              <a:t>8 </a:t>
            </a:r>
            <a:r>
              <a:rPr lang="zh-CN" altLang="en-US" dirty="0" smtClean="0"/>
              <a:t>方向邻域判断）。</a:t>
            </a:r>
            <a:endParaRPr lang="en-US" altLang="zh-CN" dirty="0" smtClean="0"/>
          </a:p>
          <a:p>
            <a:pPr>
              <a:buNone/>
            </a:pPr>
            <a:r>
              <a:rPr lang="zh-CN" altLang="en-US" dirty="0" smtClean="0"/>
              <a:t>   将洼地底点中的一个点作为种子点，然后向其相邻的 </a:t>
            </a:r>
            <a:r>
              <a:rPr lang="en-US" altLang="zh-CN" dirty="0" smtClean="0"/>
              <a:t>8 </a:t>
            </a:r>
            <a:r>
              <a:rPr lang="zh-CN" altLang="en-US" dirty="0" smtClean="0"/>
              <a:t>个方向扩散。被扩散的点如果其 </a:t>
            </a:r>
            <a:r>
              <a:rPr lang="en-US" altLang="zh-CN" dirty="0" smtClean="0"/>
              <a:t>V R</a:t>
            </a:r>
            <a:r>
              <a:rPr lang="zh-CN" altLang="en-US" dirty="0" smtClean="0"/>
              <a:t>（</a:t>
            </a:r>
            <a:r>
              <a:rPr lang="en-US" altLang="zh-CN" dirty="0" err="1" smtClean="0"/>
              <a:t>i</a:t>
            </a:r>
            <a:r>
              <a:rPr lang="zh-CN" altLang="en-US" dirty="0" smtClean="0"/>
              <a:t>， </a:t>
            </a:r>
            <a:r>
              <a:rPr lang="en-US" altLang="zh-CN" dirty="0" smtClean="0"/>
              <a:t>j </a:t>
            </a:r>
            <a:r>
              <a:rPr lang="zh-CN" altLang="en-US" dirty="0" smtClean="0"/>
              <a:t>） 值为 </a:t>
            </a:r>
            <a:r>
              <a:rPr lang="en-US" altLang="zh-CN" dirty="0" smtClean="0"/>
              <a:t>l</a:t>
            </a:r>
            <a:r>
              <a:rPr lang="zh-CN" altLang="en-US" dirty="0" smtClean="0"/>
              <a:t>，就不再作为种子点向外扩散，该点纪录为边缘点，否则就继续作为种子点向外扩散。重复上述过程直到所有种子点扫描为止。从洼地所属的边缘点中找出高程值最小的点，则该点即为该洼地的溢口点。</a:t>
            </a:r>
            <a:endParaRPr lang="en-US" altLang="zh-CN" dirty="0" smtClean="0"/>
          </a:p>
          <a:p>
            <a:pPr>
              <a:buNone/>
            </a:pPr>
            <a:r>
              <a:rPr lang="zh-CN" altLang="en-US" dirty="0" smtClean="0"/>
              <a:t>（即以一点为中心</a:t>
            </a:r>
            <a:r>
              <a:rPr lang="zh-CN" altLang="en-US" dirty="0" smtClean="0">
                <a:solidFill>
                  <a:srgbClr val="FF0000"/>
                </a:solidFill>
              </a:rPr>
              <a:t>扩散找边缘点</a:t>
            </a:r>
            <a:r>
              <a:rPr lang="zh-CN" altLang="en-US" dirty="0" smtClean="0"/>
              <a:t>）</a:t>
            </a:r>
            <a:endParaRPr lang="zh-CN" altLang="en-US" dirty="0"/>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57232"/>
            <a:ext cx="8229600" cy="5717304"/>
          </a:xfrm>
        </p:spPr>
        <p:txBody>
          <a:bodyPr/>
          <a:lstStyle/>
          <a:p>
            <a:r>
              <a:rPr lang="zh-CN" altLang="en-US" dirty="0" smtClean="0"/>
              <a:t>关于种子法的一个应用实例</a:t>
            </a:r>
            <a:endParaRPr lang="zh-CN" altLang="en-US" dirty="0"/>
          </a:p>
        </p:txBody>
      </p:sp>
      <p:pic>
        <p:nvPicPr>
          <p:cNvPr id="9218" name="Picture 2"/>
          <p:cNvPicPr>
            <a:picLocks noChangeAspect="1" noChangeArrowheads="1"/>
          </p:cNvPicPr>
          <p:nvPr/>
        </p:nvPicPr>
        <p:blipFill>
          <a:blip r:embed="rId3"/>
          <a:srcRect/>
          <a:stretch>
            <a:fillRect/>
          </a:stretch>
        </p:blipFill>
        <p:spPr bwMode="auto">
          <a:xfrm>
            <a:off x="714348" y="1357298"/>
            <a:ext cx="3714776" cy="5392417"/>
          </a:xfrm>
          <a:prstGeom prst="rect">
            <a:avLst/>
          </a:prstGeom>
          <a:noFill/>
          <a:ln w="9525">
            <a:noFill/>
            <a:miter lim="800000"/>
            <a:headEnd/>
            <a:tailEnd/>
          </a:ln>
          <a:effectLst/>
        </p:spPr>
      </p:pic>
      <p:pic>
        <p:nvPicPr>
          <p:cNvPr id="9219" name="Picture 3"/>
          <p:cNvPicPr>
            <a:picLocks noChangeAspect="1" noChangeArrowheads="1"/>
          </p:cNvPicPr>
          <p:nvPr/>
        </p:nvPicPr>
        <p:blipFill>
          <a:blip r:embed="rId4"/>
          <a:srcRect/>
          <a:stretch>
            <a:fillRect/>
          </a:stretch>
        </p:blipFill>
        <p:spPr bwMode="auto">
          <a:xfrm>
            <a:off x="4786314" y="1643050"/>
            <a:ext cx="3714776" cy="1722795"/>
          </a:xfrm>
          <a:prstGeom prst="rect">
            <a:avLst/>
          </a:prstGeom>
          <a:noFill/>
          <a:ln w="9525">
            <a:noFill/>
            <a:miter lim="800000"/>
            <a:headEnd/>
            <a:tailEnd/>
          </a:ln>
          <a:effectLst/>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00108"/>
            <a:ext cx="8229600" cy="5574428"/>
          </a:xfrm>
        </p:spPr>
        <p:txBody>
          <a:bodyPr/>
          <a:lstStyle/>
          <a:p>
            <a:endParaRPr lang="zh-CN" altLang="en-US" dirty="0"/>
          </a:p>
        </p:txBody>
      </p:sp>
      <p:pic>
        <p:nvPicPr>
          <p:cNvPr id="10243" name="Picture 3"/>
          <p:cNvPicPr>
            <a:picLocks noChangeAspect="1" noChangeArrowheads="1"/>
          </p:cNvPicPr>
          <p:nvPr/>
        </p:nvPicPr>
        <p:blipFill>
          <a:blip r:embed="rId3"/>
          <a:srcRect/>
          <a:stretch>
            <a:fillRect/>
          </a:stretch>
        </p:blipFill>
        <p:spPr bwMode="auto">
          <a:xfrm>
            <a:off x="857224" y="1071546"/>
            <a:ext cx="3857652" cy="4635950"/>
          </a:xfrm>
          <a:prstGeom prst="rect">
            <a:avLst/>
          </a:prstGeom>
          <a:noFill/>
          <a:ln w="9525">
            <a:noFill/>
            <a:miter lim="800000"/>
            <a:headEnd/>
            <a:tailEnd/>
          </a:ln>
          <a:effectLst/>
        </p:spPr>
      </p:pic>
      <p:pic>
        <p:nvPicPr>
          <p:cNvPr id="10244" name="Picture 4"/>
          <p:cNvPicPr>
            <a:picLocks noChangeAspect="1" noChangeArrowheads="1"/>
          </p:cNvPicPr>
          <p:nvPr/>
        </p:nvPicPr>
        <p:blipFill>
          <a:blip r:embed="rId4"/>
          <a:srcRect/>
          <a:stretch>
            <a:fillRect/>
          </a:stretch>
        </p:blipFill>
        <p:spPr bwMode="auto">
          <a:xfrm>
            <a:off x="4786314" y="1071546"/>
            <a:ext cx="3643338" cy="5641298"/>
          </a:xfrm>
          <a:prstGeom prst="rect">
            <a:avLst/>
          </a:prstGeom>
          <a:noFill/>
          <a:ln w="9525">
            <a:noFill/>
            <a:miter lim="800000"/>
            <a:headEnd/>
            <a:tailEnd/>
          </a:ln>
          <a:effectLst/>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71546"/>
            <a:ext cx="8229600" cy="5502990"/>
          </a:xfrm>
        </p:spPr>
        <p:txBody>
          <a:bodyPr/>
          <a:lstStyle/>
          <a:p>
            <a:r>
              <a:rPr lang="zh-CN" altLang="en-US" dirty="0" smtClean="0"/>
              <a:t>多个洼地的情况应该可以在前面单个洼地的情况下进行叠加进而实现。</a:t>
            </a:r>
            <a:endParaRPr lang="en-US" altLang="zh-CN" smtClean="0"/>
          </a:p>
          <a:p>
            <a:endParaRPr lang="zh-CN" altLang="en-US" dirty="0"/>
          </a:p>
        </p:txBody>
      </p:sp>
    </p:spTree>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都市">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1462</TotalTime>
  <Words>979</Words>
  <Application>Microsoft Office PowerPoint</Application>
  <PresentationFormat>全屏显示(4:3)</PresentationFormat>
  <Paragraphs>128</Paragraphs>
  <Slides>20</Slides>
  <Notes>20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方正姚体</vt:lpstr>
      <vt:lpstr>宋体</vt:lpstr>
      <vt:lpstr>Calibri</vt:lpstr>
      <vt:lpstr>Georgia</vt:lpstr>
      <vt:lpstr>Trebuchet MS</vt:lpstr>
      <vt:lpstr>Wingdings 2</vt:lpstr>
      <vt:lpstr>都市</vt:lpstr>
      <vt:lpstr>创新项目分析</vt:lpstr>
      <vt:lpstr>洪水形成条件</vt:lpstr>
      <vt:lpstr>洪水灾害影响因素</vt:lpstr>
      <vt:lpstr>前面所述信息查找来源</vt:lpstr>
      <vt:lpstr>洼地和伪洼地</vt:lpstr>
      <vt:lpstr>淹没分类</vt:lpstr>
      <vt:lpstr>PowerPoint 演示文稿</vt:lpstr>
      <vt:lpstr>剔除伪洼地</vt:lpstr>
      <vt:lpstr>PowerPoint 演示文稿</vt:lpstr>
      <vt:lpstr>PowerPoint 演示文稿</vt:lpstr>
      <vt:lpstr>基于DEM的淹没分析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mtblacker</cp:lastModifiedBy>
  <cp:revision>44</cp:revision>
  <cp:lastPrinted>2017-09-18T13:41:16Z</cp:lastPrinted>
  <dcterms:created xsi:type="dcterms:W3CDTF">2017-05-30T01:34:44Z</dcterms:created>
  <dcterms:modified xsi:type="dcterms:W3CDTF">2017-09-19T09:01:06Z</dcterms:modified>
</cp:coreProperties>
</file>